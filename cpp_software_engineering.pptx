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4"/>
  </p:notesMasterIdLst>
  <p:sldIdLst>
    <p:sldId id="257" r:id="rId2"/>
    <p:sldId id="355" r:id="rId3"/>
    <p:sldId id="357" r:id="rId4"/>
    <p:sldId id="353" r:id="rId5"/>
    <p:sldId id="348" r:id="rId6"/>
    <p:sldId id="360" r:id="rId7"/>
    <p:sldId id="362" r:id="rId8"/>
    <p:sldId id="363" r:id="rId9"/>
    <p:sldId id="361" r:id="rId10"/>
    <p:sldId id="365" r:id="rId11"/>
    <p:sldId id="364" r:id="rId12"/>
    <p:sldId id="366" r:id="rId13"/>
    <p:sldId id="367" r:id="rId14"/>
    <p:sldId id="368" r:id="rId15"/>
    <p:sldId id="369" r:id="rId16"/>
    <p:sldId id="370" r:id="rId17"/>
    <p:sldId id="371" r:id="rId18"/>
    <p:sldId id="372" r:id="rId19"/>
    <p:sldId id="373" r:id="rId20"/>
    <p:sldId id="374" r:id="rId21"/>
    <p:sldId id="375" r:id="rId22"/>
    <p:sldId id="376" r:id="rId23"/>
    <p:sldId id="377" r:id="rId24"/>
    <p:sldId id="304" r:id="rId25"/>
    <p:sldId id="379" r:id="rId26"/>
    <p:sldId id="378" r:id="rId27"/>
    <p:sldId id="380" r:id="rId28"/>
    <p:sldId id="381" r:id="rId29"/>
    <p:sldId id="382" r:id="rId30"/>
    <p:sldId id="383" r:id="rId31"/>
    <p:sldId id="384" r:id="rId32"/>
    <p:sldId id="386" r:id="rId33"/>
    <p:sldId id="387" r:id="rId34"/>
    <p:sldId id="385" r:id="rId35"/>
    <p:sldId id="403" r:id="rId36"/>
    <p:sldId id="404" r:id="rId37"/>
    <p:sldId id="405" r:id="rId38"/>
    <p:sldId id="406" r:id="rId39"/>
    <p:sldId id="407" r:id="rId40"/>
    <p:sldId id="408" r:id="rId41"/>
    <p:sldId id="409" r:id="rId42"/>
    <p:sldId id="412" r:id="rId43"/>
    <p:sldId id="410" r:id="rId44"/>
    <p:sldId id="388" r:id="rId45"/>
    <p:sldId id="389" r:id="rId46"/>
    <p:sldId id="390" r:id="rId47"/>
    <p:sldId id="400" r:id="rId48"/>
    <p:sldId id="401" r:id="rId49"/>
    <p:sldId id="402" r:id="rId50"/>
    <p:sldId id="411" r:id="rId51"/>
    <p:sldId id="413" r:id="rId52"/>
    <p:sldId id="399" r:id="rId53"/>
    <p:sldId id="394" r:id="rId54"/>
    <p:sldId id="395" r:id="rId55"/>
    <p:sldId id="396" r:id="rId56"/>
    <p:sldId id="398" r:id="rId57"/>
    <p:sldId id="397" r:id="rId58"/>
    <p:sldId id="415" r:id="rId59"/>
    <p:sldId id="414" r:id="rId60"/>
    <p:sldId id="391" r:id="rId61"/>
    <p:sldId id="392" r:id="rId62"/>
    <p:sldId id="393" r:id="rId63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37B3718C-4FFE-415A-8982-0FA201B3184A}">
          <p14:sldIdLst>
            <p14:sldId id="257"/>
            <p14:sldId id="355"/>
            <p14:sldId id="357"/>
            <p14:sldId id="353"/>
            <p14:sldId id="348"/>
          </p14:sldIdLst>
        </p14:section>
        <p14:section name="Code style" id="{8034AF70-2FB5-4C21-8827-60C5A3469C93}">
          <p14:sldIdLst>
            <p14:sldId id="360"/>
            <p14:sldId id="362"/>
            <p14:sldId id="363"/>
            <p14:sldId id="361"/>
            <p14:sldId id="365"/>
            <p14:sldId id="364"/>
          </p14:sldIdLst>
        </p14:section>
        <p14:section name="CMake" id="{BDAF3638-5864-4FE8-A7B1-69A923491743}">
          <p14:sldIdLst>
            <p14:sldId id="366"/>
            <p14:sldId id="367"/>
            <p14:sldId id="368"/>
            <p14:sldId id="369"/>
            <p14:sldId id="370"/>
            <p14:sldId id="371"/>
            <p14:sldId id="372"/>
          </p14:sldIdLst>
        </p14:section>
        <p14:section name="Static code analysis" id="{7E2168B1-3151-45FE-95B5-60C458E6EA14}">
          <p14:sldIdLst>
            <p14:sldId id="373"/>
            <p14:sldId id="374"/>
            <p14:sldId id="375"/>
          </p14:sldIdLst>
        </p14:section>
        <p14:section name="Testing" id="{7E5DC78A-CBFE-4668-B154-057392F09201}">
          <p14:sldIdLst>
            <p14:sldId id="376"/>
            <p14:sldId id="377"/>
            <p14:sldId id="304"/>
            <p14:sldId id="379"/>
            <p14:sldId id="378"/>
          </p14:sldIdLst>
        </p14:section>
        <p14:section name="Dependency maangement" id="{E98903FD-FEF5-43E0-9A24-6760A06D0647}">
          <p14:sldIdLst>
            <p14:sldId id="380"/>
            <p14:sldId id="381"/>
            <p14:sldId id="382"/>
            <p14:sldId id="383"/>
            <p14:sldId id="384"/>
            <p14:sldId id="386"/>
            <p14:sldId id="387"/>
            <p14:sldId id="385"/>
          </p14:sldIdLst>
        </p14:section>
        <p14:section name="Design principles" id="{2BD6366C-0A7D-4F00-969A-F41469A52EF4}">
          <p14:sldIdLst>
            <p14:sldId id="403"/>
            <p14:sldId id="404"/>
            <p14:sldId id="405"/>
            <p14:sldId id="406"/>
            <p14:sldId id="407"/>
            <p14:sldId id="408"/>
            <p14:sldId id="409"/>
            <p14:sldId id="412"/>
            <p14:sldId id="410"/>
          </p14:sldIdLst>
        </p14:section>
        <p14:section name="Design patterns" id="{0C77B766-F7F3-4118-BE76-9D5D9D4086B8}">
          <p14:sldIdLst>
            <p14:sldId id="388"/>
            <p14:sldId id="389"/>
            <p14:sldId id="390"/>
            <p14:sldId id="400"/>
            <p14:sldId id="401"/>
            <p14:sldId id="402"/>
            <p14:sldId id="411"/>
            <p14:sldId id="413"/>
            <p14:sldId id="399"/>
            <p14:sldId id="394"/>
            <p14:sldId id="395"/>
            <p14:sldId id="396"/>
            <p14:sldId id="398"/>
            <p14:sldId id="397"/>
            <p14:sldId id="415"/>
            <p14:sldId id="414"/>
            <p14:sldId id="391"/>
          </p14:sldIdLst>
        </p14:section>
        <p14:section name="Functional approach" id="{4B4382B9-CC1F-4A42-846B-93E1F1BC9BBB}">
          <p14:sldIdLst>
            <p14:sldId id="392"/>
            <p14:sldId id="39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8CB92A8-2ED9-45B5-8C20-CA4DBD78B9E9}" v="173" dt="2024-05-16T10:49:13.06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226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viewProps" Target="view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48CB92A8-2ED9-45B5-8C20-CA4DBD78B9E9}"/>
    <pc:docChg chg="custSel modSld">
      <pc:chgData name="Geert Jan Bex" userId="b602d378c858ceb4" providerId="LiveId" clId="{48CB92A8-2ED9-45B5-8C20-CA4DBD78B9E9}" dt="2024-05-16T13:03:32.239" v="201" actId="1076"/>
      <pc:docMkLst>
        <pc:docMk/>
      </pc:docMkLst>
      <pc:sldChg chg="modSp mod">
        <pc:chgData name="Geert Jan Bex" userId="b602d378c858ceb4" providerId="LiveId" clId="{48CB92A8-2ED9-45B5-8C20-CA4DBD78B9E9}" dt="2024-05-16T10:51:38.711" v="199" actId="20577"/>
        <pc:sldMkLst>
          <pc:docMk/>
          <pc:sldMk cId="1570732094" sldId="364"/>
        </pc:sldMkLst>
        <pc:spChg chg="mod">
          <ac:chgData name="Geert Jan Bex" userId="b602d378c858ceb4" providerId="LiveId" clId="{48CB92A8-2ED9-45B5-8C20-CA4DBD78B9E9}" dt="2024-05-16T10:51:38.711" v="199" actId="20577"/>
          <ac:spMkLst>
            <pc:docMk/>
            <pc:sldMk cId="1570732094" sldId="364"/>
            <ac:spMk id="3" creationId="{674D3E9C-BE01-49A5-AA51-301AE54350DA}"/>
          </ac:spMkLst>
        </pc:spChg>
      </pc:sldChg>
      <pc:sldChg chg="addSp delSp modSp mod delAnim modAnim">
        <pc:chgData name="Geert Jan Bex" userId="b602d378c858ceb4" providerId="LiveId" clId="{48CB92A8-2ED9-45B5-8C20-CA4DBD78B9E9}" dt="2024-05-16T13:03:32.239" v="201" actId="1076"/>
        <pc:sldMkLst>
          <pc:docMk/>
          <pc:sldMk cId="4072105404" sldId="365"/>
        </pc:sldMkLst>
        <pc:spChg chg="mod">
          <ac:chgData name="Geert Jan Bex" userId="b602d378c858ceb4" providerId="LiveId" clId="{48CB92A8-2ED9-45B5-8C20-CA4DBD78B9E9}" dt="2024-05-16T13:03:32.239" v="201" actId="1076"/>
          <ac:spMkLst>
            <pc:docMk/>
            <pc:sldMk cId="4072105404" sldId="365"/>
            <ac:spMk id="7" creationId="{E8E19105-815C-4274-AABE-17BC582DEE62}"/>
          </ac:spMkLst>
        </pc:spChg>
        <pc:spChg chg="del">
          <ac:chgData name="Geert Jan Bex" userId="b602d378c858ceb4" providerId="LiveId" clId="{48CB92A8-2ED9-45B5-8C20-CA4DBD78B9E9}" dt="2024-05-16T10:46:36.944" v="0" actId="478"/>
          <ac:spMkLst>
            <pc:docMk/>
            <pc:sldMk cId="4072105404" sldId="365"/>
            <ac:spMk id="8" creationId="{8D5DF42B-DF7B-4EC9-9F73-9AB5EF86D6AE}"/>
          </ac:spMkLst>
        </pc:spChg>
        <pc:spChg chg="add mod">
          <ac:chgData name="Geert Jan Bex" userId="b602d378c858ceb4" providerId="LiveId" clId="{48CB92A8-2ED9-45B5-8C20-CA4DBD78B9E9}" dt="2024-05-16T10:49:13.063" v="175" actId="20577"/>
          <ac:spMkLst>
            <pc:docMk/>
            <pc:sldMk cId="4072105404" sldId="365"/>
            <ac:spMk id="10" creationId="{1A1D85EF-1115-C567-A5BA-08BEDBD335B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E18316-3541-442E-8E76-B95A0AF605E0}" type="datetimeFigureOut">
              <a:rPr lang="LID4096" smtClean="0"/>
              <a:t>04/03/2026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2418C1-7360-4F47-BE8A-095E5E15AB8F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344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807AD-2157-4F71-6767-022F525DE4C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C4641F1-0979-0579-51E8-C5FDB0736E6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912EB5-0B26-974D-79C8-0F297733D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CCEB0E-618E-45C7-A579-AD180C33220D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2C1F-0110-2AB8-61D7-ED969955E0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86ACCF-B209-45DC-DC0A-9F49E68F2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855114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063C1-4A1A-3B08-3836-81FC976560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DBCE5C-30F1-2FB9-13F0-BA487B242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A27BA4C-8347-F33E-348B-F66235DDA7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170E8-8909-47C9-AECF-C7A110A9E262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A3F3A1-48EB-46D9-F54E-CFE053634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04FD7D4-CD9F-04C6-C936-A694386322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0688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1489-EBE1-3E8C-E8A1-D64510D6EF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BDFBAD-CD1C-7A45-1EDA-B17FD7BE47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05B783-8BFC-9596-A0C1-700913C421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37C590D-7973-43C9-B207-04F7CE471508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E59357-A816-8117-05E9-55BD6B4CC1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1B43EB-0282-36EA-1BD6-D3D8E977ED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046720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9CE4A3-76A2-39EC-EDCD-E148521D88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F5A44-15DB-6E1C-0857-EDD0344568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3C03E2-CA3D-9E03-8341-8B1DF47418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07256E-9F95-714E-9AA7-F1B511A35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E041D7-7EA6-423B-88A0-A217731AA946}" type="datetime1">
              <a:rPr lang="LID4096" smtClean="0"/>
              <a:t>04/03/2026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26833BC-C410-9BA5-6688-F8E79EA64A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F57B1C-66B7-86A3-32AB-923E8B1DE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2775554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42DE1-FE79-2400-2E63-AE2E7C89F3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C51333-E3CF-DEE1-FB74-C6B2D154E6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FFF3D4-1C31-FBCA-13D4-A706A53C9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F92C08B-7275-4EF8-EFBB-CFC4931F1F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8D3EBAA-760A-5E2D-CA28-1C1AED8B6D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46F4E1-CD46-F75C-1A4E-E3866D5C2A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DF2A55-FD61-4AC5-A515-ED3F1E80F296}" type="datetime1">
              <a:rPr lang="LID4096" smtClean="0"/>
              <a:t>04/03/2026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6EBFCC5-BF53-43A8-1F74-AF17A4A61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6CB9579-E886-A612-F724-1FE0EA3C03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981388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25D5D6-E9FD-2E7B-0781-40A1658C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D7ECA81-65FC-84E6-3384-7FF0F007D3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ED7C0E-94F0-4D14-8F58-6D25D315F3DC}" type="datetime1">
              <a:rPr lang="LID4096" smtClean="0"/>
              <a:t>04/03/2026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E343A7-3544-BABF-BA89-7ED6E6928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8F6425-5FB2-892D-56E5-D0066488EC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65200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A74C97-9BF9-CD3B-14C2-B7ADE679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88AB77-1B4E-4D00-8D86-8CBF03A7E13C}" type="datetime1">
              <a:rPr lang="LID4096" smtClean="0"/>
              <a:t>04/03/2026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86EE090-5D03-CA56-3673-D3D7E47280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C95F21-49A0-EBDF-90DF-EF1D6FB3C0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54619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BB43E-627F-F4BC-63A0-EDA69AB36B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AC4C61-FBFA-79A8-C379-B2842D8901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E7E0BF-FB73-F7D9-30B0-C53E27BEC1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8352D0-34E4-D62B-2355-058337949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3C0D7F-F788-458A-93D6-DCF4C7F29636}" type="datetime1">
              <a:rPr lang="LID4096" smtClean="0"/>
              <a:t>04/03/2026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873198-122F-49CD-E48C-3810020B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D7F532-FEF2-026E-D718-7F9895F0B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04060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FED7-13BD-E202-48B6-CBBBA5F7B9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C52684-9C4A-0E84-D843-C749301F345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B4A0D2-DA13-339B-DD51-9993678872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5133BA-9B9E-6097-6B57-F621E92C64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C7CCBC-154E-498D-B8FD-669CE3C64250}" type="datetime1">
              <a:rPr lang="LID4096" smtClean="0"/>
              <a:t>04/03/2026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CA00804-4018-0A0E-2F39-7D21FABA74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0AFA75-7800-05EB-F056-D147DDE07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5242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9DC37F-EBB0-7084-3E61-93D480998F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EB87623-B6A8-16A9-C0F6-0E7C9B4669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D4A8CF-6F7C-0364-AD91-0161EBC2E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9B0D5F-347B-4B69-9FE7-43363B46D130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C33F2-DF21-8D9A-A262-03A1BB685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597D856-5CB4-CAA5-10B8-790AC9A94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967129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9915F12-3D94-704F-23A0-F958F8640FC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8EF530F-5428-925D-306F-DB42581D27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701BF6-F80B-0D48-63B2-1EC6729F5D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2936A9-07CF-4428-8F68-9DB53105CCBE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831C34-34BD-7597-AE91-863A3E9909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F821DA-C7DE-FBAC-C0A4-03FACD5AFA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5689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13DE268-5A1A-A395-B08B-81DBC4A01C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995D35-1143-A8EE-8E82-CBE57D5B13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BF86EF-406D-E4F4-983C-025F716F1E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1B14D2-6539-4609-80C5-044F9B782269}" type="datetime1">
              <a:rPr lang="LID4096" smtClean="0"/>
              <a:t>04/03/2026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04AD55-80E8-59F5-1B82-F4EC3224CC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9F5452-9B6A-87BD-3817-8AC0B36926C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B1AA33-DFBB-49AC-8CEE-23FFECEB5648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9030639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bit.ly/3ywlOx0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styleguide/cppguide.html" TargetMode="External"/><Relationship Id="rId2" Type="http://schemas.openxmlformats.org/officeDocument/2006/relationships/hyperlink" Target="https://isocpp.github.io/CppCoreGuidelines/CppCoreGuidelines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misra.org.uk/" TargetMode="Externa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cmake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playlist?list=PL8i3OhJb4FNV10aIZ8oF0AA46HgA2ed8g" TargetMode="External"/><Relationship Id="rId2" Type="http://schemas.openxmlformats.org/officeDocument/2006/relationships/hyperlink" Target="https://cmake.org/documentation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youtu.be/rLopVhns4Zs?si=iu9i97KpIIldR41D" TargetMode="External"/><Relationship Id="rId4" Type="http://schemas.openxmlformats.org/officeDocument/2006/relationships/hyperlink" Target="https://pabloariasal.github.io/2018/02/19/its-time-to-do-cmake-right/" TargetMode="Externa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static-analysis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cppcheck.sourceforge.io/#documentation" TargetMode="External"/><Relationship Id="rId2" Type="http://schemas.openxmlformats.org/officeDocument/2006/relationships/hyperlink" Target="https://clang.llvm.org/extra/clang-tidy/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atch2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testing/ctest" TargetMode="Externa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oogle.github.io/googletest/primer.html" TargetMode="External"/><Relationship Id="rId7" Type="http://schemas.openxmlformats.org/officeDocument/2006/relationships/hyperlink" Target="https://github.com/kward/shunit2" TargetMode="External"/><Relationship Id="rId2" Type="http://schemas.openxmlformats.org/officeDocument/2006/relationships/hyperlink" Target="https://github.com/catchorg/Catch2/blob/devel/docs/tutorial.md#top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google/fuzztest" TargetMode="External"/><Relationship Id="rId5" Type="http://schemas.openxmlformats.org/officeDocument/2006/relationships/hyperlink" Target="https://cmake.org/cmake/help/latest/module/CTest.html" TargetMode="External"/><Relationship Id="rId4" Type="http://schemas.openxmlformats.org/officeDocument/2006/relationships/hyperlink" Target="https://www.freedesktop.org/wiki/Software/cppunit/" TargetMode="Externa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onan" TargetMode="Externa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main/source-code/dependency-management/cpm" TargetMode="Externa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learn.microsoft.com/en-us/vcpkg/" TargetMode="External"/><Relationship Id="rId2" Type="http://schemas.openxmlformats.org/officeDocument/2006/relationships/hyperlink" Target="https://docs.conan.io/2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cpm-cmake/CPM.cmake" TargetMode="Externa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BuilderPattern" TargetMode="External"/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6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FactoryPattern" TargetMode="External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StrategyPattern" TargetMode="External"/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github.com/gjbex/Scientific-C-plus-plus/tree/master/source-code/DesignPatterns/CellularAutomata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8.svg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DesignPatterns/CellularAutomata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C-plus-plus-software-engineering/tree/development/source-code/design-patterns" TargetMode="Externa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C-plus-plus/tree/master/source-code/DesignPatterns/CellularAutomata" TargetMode="Externa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C-plus-plus/tree/master/source-code/Algorithms" TargetMode="External"/><Relationship Id="rId2" Type="http://schemas.openxmlformats.org/officeDocument/2006/relationships/hyperlink" Target="https://github.com/gjbex/Scientific-C-plus-plus/tree/master/source-code/Functional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github.com/gjbex/Scientific-C-plus-plus/tree/master/source-code/Ranges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C++ software engineering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8BE29A-27A3-AC41-EAC1-DA88C291BB3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710852"/>
            <a:ext cx="2085975" cy="352425"/>
          </a:xfrm>
          <a:prstGeom prst="rect">
            <a:avLst/>
          </a:prstGeom>
        </p:spPr>
      </p:pic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3592C4-57A7-F374-8CFA-06D95B636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528894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https://bit.ly/3ywlOx0</a:t>
            </a:r>
            <a:r>
              <a:rPr lang="en-US" sz="4000" dirty="0"/>
              <a:t> 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7BA2FD-AA6F-D743-C133-F4F10A2AAD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B6E4D0E-CF9C-8B5A-BB4F-51D500AD5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code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hello_world.cpp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or </a:t>
            </a:r>
            <a:r>
              <a:rPr lang="en-US" dirty="0" err="1"/>
              <a:t>CMake</a:t>
            </a:r>
            <a:r>
              <a:rPr lang="en-US" dirty="0"/>
              <a:t>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#include</a:t>
            </a:r>
            <a:r>
              <a:rPr kumimoji="0" lang="en-US" sz="1800" b="0" i="0" u="none" strike="noStrike" kern="1200" cap="none" spc="0" normalizeH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&lt;iostream&gt;</a:t>
            </a:r>
          </a:p>
          <a:p>
            <a:pPr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Int main(int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argc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, char* 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argv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[]) {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81588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ea typeface="+mn-ea"/>
              <a:cs typeface="Courier New" pitchFamily="49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22982" y="3484460"/>
            <a:ext cx="3586553" cy="3187879"/>
            <a:chOff x="1298981" y="3584213"/>
            <a:chExt cx="3586553" cy="3187879"/>
          </a:xfrm>
        </p:grpSpPr>
        <p:sp>
          <p:nvSpPr>
            <p:cNvPr id="7" name="Oval 6"/>
            <p:cNvSpPr/>
            <p:nvPr/>
          </p:nvSpPr>
          <p:spPr>
            <a:xfrm>
              <a:off x="1298981" y="6498576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59022" y="5858572"/>
              <a:ext cx="2048882" cy="776762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Calibri" panose="020F0502020204030204"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conventions: shell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363112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A5471-A4D8-4F5E-B450-200A4C371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302BE0-A82A-4DCE-87F1-E8BD131C79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8DF20-6449-4B12-9A41-DCB2C682E0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1545238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3FBFC3-766E-4263-9027-38AAA7CE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Code style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D31DC0-6B84-4306-9935-19637AFD8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Readability</a:t>
            </a:r>
          </a:p>
          <a:p>
            <a:r>
              <a:rPr lang="en-US" dirty="0"/>
              <a:t>Coding conventions</a:t>
            </a:r>
          </a:p>
          <a:p>
            <a:r>
              <a:rPr lang="en-US" dirty="0"/>
              <a:t>Exception handling</a:t>
            </a:r>
          </a:p>
          <a:p>
            <a:r>
              <a:rPr lang="en-US" dirty="0"/>
              <a:t>Code organization</a:t>
            </a:r>
          </a:p>
          <a:p>
            <a:r>
              <a:rPr lang="en-US" dirty="0"/>
              <a:t>Documentation</a:t>
            </a:r>
          </a:p>
          <a:p>
            <a:r>
              <a:rPr lang="en-US" dirty="0"/>
              <a:t>Testing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B6240F-BBD6-42AC-94C1-312F0A7940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DA90F59-7373-4A5D-BD38-BC2FC0AD7523}"/>
              </a:ext>
            </a:extLst>
          </p:cNvPr>
          <p:cNvSpPr txBox="1"/>
          <p:nvPr/>
        </p:nvSpPr>
        <p:spPr>
          <a:xfrm>
            <a:off x="5544065" y="2875005"/>
            <a:ext cx="5245667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Code must be maintained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Over long periods of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3600" dirty="0"/>
              <a:t>By multiple people</a:t>
            </a:r>
          </a:p>
        </p:txBody>
      </p:sp>
    </p:spTree>
    <p:extLst>
      <p:ext uri="{BB962C8B-B14F-4D97-AF65-F5344CB8AC3E}">
        <p14:creationId xmlns:p14="http://schemas.microsoft.com/office/powerpoint/2010/main" val="7138853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48360E-1365-44A0-BB5D-2008749900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== story 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AF9A-9334-482A-843C-761B9FEAD2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Names should be descriptive</a:t>
            </a:r>
          </a:p>
          <a:p>
            <a:pPr lvl="1"/>
            <a:r>
              <a:rPr lang="en-US" dirty="0"/>
              <a:t>Variables are nouns</a:t>
            </a:r>
          </a:p>
          <a:p>
            <a:pPr lvl="1"/>
            <a:r>
              <a:rPr lang="en-US" dirty="0"/>
              <a:t>Functions are verbs</a:t>
            </a:r>
          </a:p>
          <a:p>
            <a:pPr lvl="1"/>
            <a:r>
              <a:rPr lang="en-US" dirty="0"/>
              <a:t>Boolean functions are questions</a:t>
            </a:r>
          </a:p>
          <a:p>
            <a:r>
              <a:rPr lang="en-US" dirty="0"/>
              <a:t>Avoid long functions</a:t>
            </a:r>
          </a:p>
          <a:p>
            <a:pPr lvl="1"/>
            <a:r>
              <a:rPr lang="en-US" dirty="0"/>
              <a:t>Should fit on screen</a:t>
            </a:r>
          </a:p>
          <a:p>
            <a:r>
              <a:rPr lang="en-US" dirty="0"/>
              <a:t>Don’t try to be too clever</a:t>
            </a:r>
          </a:p>
          <a:p>
            <a:pPr lvl="1"/>
            <a:r>
              <a:rPr lang="en-US" dirty="0"/>
              <a:t>Others should understand it (including your future self)</a:t>
            </a:r>
          </a:p>
          <a:p>
            <a:pPr lvl="1"/>
            <a:r>
              <a:rPr lang="en-US" dirty="0"/>
              <a:t>Add comments and documentation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7A8FB2-156F-4F33-8C52-AF97BC2E5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B8CF07-97C0-4944-8604-4E90499DAC71}"/>
              </a:ext>
            </a:extLst>
          </p:cNvPr>
          <p:cNvSpPr txBox="1"/>
          <p:nvPr/>
        </p:nvSpPr>
        <p:spPr>
          <a:xfrm>
            <a:off x="6624320" y="2519680"/>
            <a:ext cx="5056962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3600" dirty="0"/>
              <a:t>C++ can be easy to read,</a:t>
            </a:r>
          </a:p>
          <a:p>
            <a:r>
              <a:rPr lang="en-US" sz="3600" dirty="0"/>
              <a:t>make it so!</a:t>
            </a:r>
          </a:p>
        </p:txBody>
      </p:sp>
    </p:spTree>
    <p:extLst>
      <p:ext uri="{BB962C8B-B14F-4D97-AF65-F5344CB8AC3E}">
        <p14:creationId xmlns:p14="http://schemas.microsoft.com/office/powerpoint/2010/main" val="6188629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5E32CC-1C48-48B3-9D84-9FA600785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Coding conventions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FFF34-F162-4B13-BEF3-61EBA37D57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Be consistent!</a:t>
            </a:r>
          </a:p>
          <a:p>
            <a:pPr lvl="1"/>
            <a:r>
              <a:rPr lang="en-US" dirty="0"/>
              <a:t>Many conventions, choose one, stick to it</a:t>
            </a:r>
          </a:p>
          <a:p>
            <a:pPr lvl="1"/>
            <a:r>
              <a:rPr lang="en-US" dirty="0"/>
              <a:t>Use tools, e.g., clang-tidy/clang-format</a:t>
            </a:r>
          </a:p>
          <a:p>
            <a:r>
              <a:rPr lang="da-DK" dirty="0"/>
              <a:t> C++ core guidelines</a:t>
            </a:r>
            <a:br>
              <a:rPr lang="da-DK" dirty="0"/>
            </a:br>
            <a:r>
              <a:rPr lang="da-DK" dirty="0">
                <a:hlinkClick r:id="rId2"/>
              </a:rPr>
              <a:t>https://isocpp.github.io/CppCoreGuidelines/CppCoreGuidelines</a:t>
            </a:r>
            <a:r>
              <a:rPr lang="da-DK" dirty="0"/>
              <a:t> </a:t>
            </a:r>
          </a:p>
          <a:p>
            <a:r>
              <a:rPr lang="da-DK" dirty="0"/>
              <a:t>Google C++ style guide</a:t>
            </a:r>
            <a:br>
              <a:rPr lang="da-DK" dirty="0"/>
            </a:br>
            <a:r>
              <a:rPr lang="da-DK" dirty="0">
                <a:hlinkClick r:id="rId3"/>
              </a:rPr>
              <a:t>https://google.github.io/styleguide/cppguide.html</a:t>
            </a:r>
            <a:r>
              <a:rPr lang="da-DK" dirty="0"/>
              <a:t> </a:t>
            </a:r>
          </a:p>
          <a:p>
            <a:r>
              <a:rPr lang="da-DK" dirty="0"/>
              <a:t>MISRA C++2023</a:t>
            </a:r>
            <a:br>
              <a:rPr lang="da-DK" dirty="0"/>
            </a:br>
            <a:r>
              <a:rPr lang="da-DK" dirty="0">
                <a:hlinkClick r:id="rId4"/>
              </a:rPr>
              <a:t>https://misra.org.uk/</a:t>
            </a:r>
            <a:r>
              <a:rPr lang="da-DK" dirty="0"/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1FD73C-2F86-4E6B-9F90-068CD462FB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719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4170-C529-4CAC-B31D-56A78C9F11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 (modern) language idioms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409A1C-2A90-428E-983C-53F1E59F0E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Do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FEED60-6777-4684-A163-0EF2C4B31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A7C955A-E935-474D-BE32-4BF9E04A2DB2}"/>
              </a:ext>
            </a:extLst>
          </p:cNvPr>
          <p:cNvSpPr txBox="1"/>
          <p:nvPr/>
        </p:nvSpPr>
        <p:spPr>
          <a:xfrm>
            <a:off x="644550" y="2368743"/>
            <a:ext cx="4871847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(int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= 0; I &lt; 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v.size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(); ++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v[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]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8E19105-815C-4274-AABE-17BC582DEE62}"/>
              </a:ext>
            </a:extLst>
          </p:cNvPr>
          <p:cNvSpPr txBox="1"/>
          <p:nvPr/>
        </p:nvSpPr>
        <p:spPr>
          <a:xfrm>
            <a:off x="6278723" y="2365723"/>
            <a:ext cx="54232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₼{0.0};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 v)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sum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+=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value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;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BD44A4A-665B-155F-48AB-6FA96AA271F1}"/>
              </a:ext>
            </a:extLst>
          </p:cNvPr>
          <p:cNvSpPr txBox="1"/>
          <p:nvPr/>
        </p:nvSpPr>
        <p:spPr>
          <a:xfrm>
            <a:off x="703044" y="4466163"/>
            <a:ext cx="4458272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for (auto value: v)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std::</a:t>
            </a: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cout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&lt;&lt; values &lt;&lt; " ";</a:t>
            </a:r>
            <a:endParaRPr lang="nl-BE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1D85EF-1115-C567-A5BA-08BEDBD335B8}"/>
              </a:ext>
            </a:extLst>
          </p:cNvPr>
          <p:cNvSpPr txBox="1"/>
          <p:nvPr/>
        </p:nvSpPr>
        <p:spPr>
          <a:xfrm>
            <a:off x="6278723" y="4466163"/>
            <a:ext cx="54232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#include &lt;numeric&gt;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std::vector&lt;double&gt; v;</a:t>
            </a:r>
          </a:p>
          <a:p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double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su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₼{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std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::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accumulate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v.cbegin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</a:t>
            </a:r>
          </a:p>
          <a:p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             </a:t>
            </a:r>
            <a:r>
              <a:rPr lang="nl-BE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v.cend</a:t>
            </a:r>
            <a:r>
              <a:rPr lang="nl-BE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(), 0.0)};</a:t>
            </a:r>
          </a:p>
        </p:txBody>
      </p:sp>
    </p:spTree>
    <p:extLst>
      <p:ext uri="{BB962C8B-B14F-4D97-AF65-F5344CB8AC3E}">
        <p14:creationId xmlns:p14="http://schemas.microsoft.com/office/powerpoint/2010/main" val="40721054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9" grpId="0" animBg="1"/>
      <p:bldP spid="1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CA5E32-F314-468F-875A-42941A871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D3E9C-BE01-49A5-AA51-301AE54350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   craftsmanship</a:t>
            </a:r>
            <a:r>
              <a:rPr lang="en-US"/>
              <a:t>, Pearson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0DA9BA-46B8-46A5-9930-390900E176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707320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C9C77F-857D-D822-5622-4AD4E3DD9D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with </a:t>
            </a:r>
            <a:r>
              <a:rPr lang="en-US" dirty="0" err="1"/>
              <a:t>CMake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0A0957-E83A-0D6A-66FD-37AD637C6F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F742C5-EBF6-2744-C9C5-119479B126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990869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8A605-DA9E-9831-A130-E3E69C2920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</a:t>
            </a:r>
            <a:r>
              <a:rPr lang="en-US" dirty="0" err="1"/>
              <a:t>CMake</a:t>
            </a:r>
            <a:r>
              <a:rPr lang="en-US" dirty="0"/>
              <a:t>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8ACCE1-4AB2-D22D-52B2-2D69966505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system </a:t>
            </a:r>
            <a:r>
              <a:rPr lang="en-US" i="1" dirty="0"/>
              <a:t>generator</a:t>
            </a:r>
          </a:p>
          <a:p>
            <a:pPr lvl="1"/>
            <a:r>
              <a:rPr lang="en-US" dirty="0"/>
              <a:t>Declarative</a:t>
            </a:r>
          </a:p>
          <a:p>
            <a:pPr lvl="1"/>
            <a:r>
              <a:rPr lang="en-US" dirty="0"/>
              <a:t>Generates build files for, e.g., make, ninja,</a:t>
            </a:r>
            <a:r>
              <a:rPr lang="en-US" dirty="0">
                <a:sym typeface="Symbol" panose="05050102010706020507" pitchFamily="18" charset="2"/>
              </a:rPr>
              <a:t></a:t>
            </a:r>
          </a:p>
          <a:p>
            <a:r>
              <a:rPr lang="en-US" dirty="0">
                <a:sym typeface="Symbol" panose="05050102010706020507" pitchFamily="18" charset="2"/>
              </a:rPr>
              <a:t>Basic steps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Write 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  <a:sym typeface="Symbol" panose="05050102010706020507" pitchFamily="18" charset="2"/>
              </a:rPr>
              <a:t>CMakeLists.txt</a:t>
            </a:r>
            <a:r>
              <a:rPr lang="en-US" dirty="0">
                <a:sym typeface="Symbol" panose="05050102010706020507" pitchFamily="18" charset="2"/>
              </a:rPr>
              <a:t> file</a:t>
            </a:r>
          </a:p>
          <a:p>
            <a:pPr lvl="1"/>
            <a:r>
              <a:rPr lang="en-US" dirty="0">
                <a:sym typeface="Symbol" panose="05050102010706020507" pitchFamily="18" charset="2"/>
              </a:rPr>
              <a:t>Create build files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Build the project</a:t>
            </a:r>
          </a:p>
          <a:p>
            <a:pPr lvl="1"/>
            <a:endParaRPr lang="en-US" dirty="0">
              <a:sym typeface="Symbol" panose="05050102010706020507" pitchFamily="18" charset="2"/>
            </a:endParaRPr>
          </a:p>
          <a:p>
            <a:pPr lvl="1"/>
            <a:r>
              <a:rPr lang="en-US" dirty="0">
                <a:sym typeface="Symbol" panose="05050102010706020507" pitchFamily="18" charset="2"/>
              </a:rPr>
              <a:t>Install the project</a:t>
            </a:r>
          </a:p>
          <a:p>
            <a:pPr lvl="1"/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0C6BCEC-8B92-4D3B-A876-A8C53EC05F04}"/>
              </a:ext>
            </a:extLst>
          </p:cNvPr>
          <p:cNvSpPr txBox="1"/>
          <p:nvPr/>
        </p:nvSpPr>
        <p:spPr>
          <a:xfrm>
            <a:off x="2071869" y="4345984"/>
            <a:ext cx="4024129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-B build/  -S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82433F6-C255-0ABE-EDFA-9F1681B547BA}"/>
              </a:ext>
            </a:extLst>
          </p:cNvPr>
          <p:cNvSpPr txBox="1"/>
          <p:nvPr/>
        </p:nvSpPr>
        <p:spPr>
          <a:xfrm>
            <a:off x="2071870" y="5191382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3C0BC2F-2AA0-1271-89BE-B8FFC780904A}"/>
              </a:ext>
            </a:extLst>
          </p:cNvPr>
          <p:cNvSpPr txBox="1"/>
          <p:nvPr/>
        </p:nvSpPr>
        <p:spPr>
          <a:xfrm>
            <a:off x="2071870" y="5931088"/>
            <a:ext cx="4024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42EE87C-596F-33CB-2255-1687362273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2214274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AA1CE2-B784-4767-1D3B-8E38D635AA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r>
              <a:rPr lang="en-US" dirty="0"/>
              <a:t> file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14F210-8614-9BAA-8F26-2B00212996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14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5251F6-FA02-48EC-C0D9-52CD50D3C336}"/>
              </a:ext>
            </a:extLst>
          </p:cNvPr>
          <p:cNvSpPr txBox="1"/>
          <p:nvPr/>
        </p:nvSpPr>
        <p:spPr>
          <a:xfrm>
            <a:off x="961527" y="2261499"/>
            <a:ext cx="5972673" cy="258532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cmake_minimum_required</a:t>
            </a: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(VERSION 3.20)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project (hello LANGUAGES CXX)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 17)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set(CMAKE_CXX_STANDARD_REQUIRED ON)</a:t>
            </a: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set(CMAKE_CXX_EXTENSIONS OFF)</a:t>
            </a:r>
          </a:p>
          <a:p>
            <a:pPr lvl="0">
              <a:defRPr/>
            </a:pPr>
            <a:endParaRPr lang="en-US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add_executable(hello.exe hello_world.cpp)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42B626-B940-61B1-5CC2-81A6DCFA5A35}"/>
              </a:ext>
            </a:extLst>
          </p:cNvPr>
          <p:cNvGrpSpPr/>
          <p:nvPr/>
        </p:nvGrpSpPr>
        <p:grpSpPr>
          <a:xfrm>
            <a:off x="6226629" y="2076833"/>
            <a:ext cx="5547908" cy="523220"/>
            <a:chOff x="6226629" y="2076833"/>
            <a:chExt cx="5547908" cy="5232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D103DF9-FC3F-E20D-9364-076F87802D72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 err="1"/>
                <a:t>CMake</a:t>
              </a:r>
              <a:r>
                <a:rPr lang="en-US" sz="2800" dirty="0"/>
                <a:t> version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A76BBC6F-7D5D-38EB-CEEA-530E5C620F24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3E94D9ED-9D9B-98D9-C780-ADEDBFB5E517}"/>
              </a:ext>
            </a:extLst>
          </p:cNvPr>
          <p:cNvGrpSpPr/>
          <p:nvPr/>
        </p:nvGrpSpPr>
        <p:grpSpPr>
          <a:xfrm>
            <a:off x="5529943" y="2824545"/>
            <a:ext cx="6244594" cy="954107"/>
            <a:chOff x="5529943" y="2076833"/>
            <a:chExt cx="6244594" cy="954107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204A9BC-4866-3167-BBCD-3DFA15D9390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95410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Project name &amp;</a:t>
              </a:r>
              <a:br>
                <a:rPr lang="en-US" sz="2800" dirty="0"/>
              </a:br>
              <a:r>
                <a:rPr lang="en-US" sz="2800" dirty="0"/>
                <a:t>language(s)</a:t>
              </a:r>
              <a:endParaRPr lang="LID4096" sz="2800" dirty="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B219F81D-A3CE-1F1C-9E12-B430CB7F7BBF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 flipV="1">
              <a:off x="5529943" y="2338443"/>
              <a:ext cx="2895600" cy="21544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36B58CA-534F-8E53-714B-441FB2C43141}"/>
              </a:ext>
            </a:extLst>
          </p:cNvPr>
          <p:cNvGrpSpPr/>
          <p:nvPr/>
        </p:nvGrpSpPr>
        <p:grpSpPr>
          <a:xfrm>
            <a:off x="6934200" y="4762361"/>
            <a:ext cx="4840337" cy="523220"/>
            <a:chOff x="6934200" y="2076833"/>
            <a:chExt cx="4840337" cy="52322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101B866-9BE6-DCA5-0F3D-BC6B5EC1A177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artifact</a:t>
              </a:r>
              <a:endParaRPr lang="LID4096" sz="2800" dirty="0"/>
            </a:p>
          </p:txBody>
        </p: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D8816A4B-D4E1-361E-1BB8-8DCB95482578}"/>
                </a:ext>
              </a:extLst>
            </p:cNvPr>
            <p:cNvCxnSpPr>
              <a:cxnSpLocks/>
              <a:stCxn id="24" idx="1"/>
            </p:cNvCxnSpPr>
            <p:nvPr/>
          </p:nvCxnSpPr>
          <p:spPr>
            <a:xfrm flipH="1" flipV="1">
              <a:off x="6934200" y="2076833"/>
              <a:ext cx="1491343" cy="26161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50C2107-C4B9-A74A-78FE-6E201778EF5A}"/>
              </a:ext>
            </a:extLst>
          </p:cNvPr>
          <p:cNvGrpSpPr/>
          <p:nvPr/>
        </p:nvGrpSpPr>
        <p:grpSpPr>
          <a:xfrm>
            <a:off x="6096000" y="3429000"/>
            <a:ext cx="5678537" cy="995395"/>
            <a:chOff x="6096000" y="3429000"/>
            <a:chExt cx="5678537" cy="99539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2A80894A-BCAA-D2E9-F612-4A6F4D221FF2}"/>
                </a:ext>
              </a:extLst>
            </p:cNvPr>
            <p:cNvGrpSpPr/>
            <p:nvPr/>
          </p:nvGrpSpPr>
          <p:grpSpPr>
            <a:xfrm>
              <a:off x="6226629" y="3853543"/>
              <a:ext cx="5547908" cy="570852"/>
              <a:chOff x="6226629" y="2029201"/>
              <a:chExt cx="5547908" cy="570852"/>
            </a:xfrm>
          </p:grpSpPr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3153BDD-A8D8-DA4E-C2EE-44F0CBEB5C38}"/>
                  </a:ext>
                </a:extLst>
              </p:cNvPr>
              <p:cNvSpPr txBox="1"/>
              <p:nvPr/>
            </p:nvSpPr>
            <p:spPr>
              <a:xfrm>
                <a:off x="8425543" y="2076833"/>
                <a:ext cx="3348994" cy="52322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2800" dirty="0"/>
                  <a:t>Language properties</a:t>
                </a:r>
                <a:endParaRPr lang="LID4096" sz="2800" dirty="0"/>
              </a:p>
            </p:txBody>
          </p:sp>
          <p:cxnSp>
            <p:nvCxnSpPr>
              <p:cNvPr id="21" name="Straight Arrow Connector 20">
                <a:extLst>
                  <a:ext uri="{FF2B5EF4-FFF2-40B4-BE49-F238E27FC236}">
                    <a16:creationId xmlns:a16="http://schemas.microsoft.com/office/drawing/2014/main" id="{95C90506-8C84-3F2A-BA12-151DA6480D40}"/>
                  </a:ext>
                </a:extLst>
              </p:cNvPr>
              <p:cNvCxnSpPr>
                <a:cxnSpLocks/>
                <a:stCxn id="20" idx="1"/>
                <a:endCxn id="31" idx="1"/>
              </p:cNvCxnSpPr>
              <p:nvPr/>
            </p:nvCxnSpPr>
            <p:spPr>
              <a:xfrm flipH="1" flipV="1">
                <a:off x="6226629" y="2029201"/>
                <a:ext cx="2198914" cy="309242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stealth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1" name="Right Brace 30">
              <a:extLst>
                <a:ext uri="{FF2B5EF4-FFF2-40B4-BE49-F238E27FC236}">
                  <a16:creationId xmlns:a16="http://schemas.microsoft.com/office/drawing/2014/main" id="{2853D7A9-AA73-343F-4B59-0DB0345B2798}"/>
                </a:ext>
              </a:extLst>
            </p:cNvPr>
            <p:cNvSpPr/>
            <p:nvPr/>
          </p:nvSpPr>
          <p:spPr>
            <a:xfrm>
              <a:off x="6096000" y="3429000"/>
              <a:ext cx="130629" cy="849086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</p:grpSp>
    </p:spTree>
    <p:extLst>
      <p:ext uri="{BB962C8B-B14F-4D97-AF65-F5344CB8AC3E}">
        <p14:creationId xmlns:p14="http://schemas.microsoft.com/office/powerpoint/2010/main" val="9592943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Generate build files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Specify installation directory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build type, e.g.,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Debug</a:t>
            </a:r>
            <a:r>
              <a:rPr lang="en-US" dirty="0"/>
              <a:t>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RelWithDebInfo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Release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Specify a compiler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44098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-DCMAKE_INSTALL_PREFIX=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some_directory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400129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5" y="5561604"/>
            <a:ext cx="7170553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CXX=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ipcx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151690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C6D61-D89D-5A47-77AD-4E16CFFB9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Building &amp; installing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39330-9C28-B17B-9020-91E477F25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Build project</a:t>
            </a:r>
          </a:p>
          <a:p>
            <a:endParaRPr lang="en-US" dirty="0"/>
          </a:p>
          <a:p>
            <a:r>
              <a:rPr lang="en-US" dirty="0"/>
              <a:t>Build, but clean first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/>
              <a:t>Install</a:t>
            </a:r>
          </a:p>
          <a:p>
            <a:endParaRPr lang="en-US" dirty="0"/>
          </a:p>
          <a:p>
            <a:r>
              <a:rPr lang="en-US" dirty="0"/>
              <a:t>Clean</a:t>
            </a:r>
          </a:p>
          <a:p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33E781-F30A-F0FB-655F-F91A6C3E5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16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6D7755-9325-9BD5-A1D6-3182D428660B}"/>
              </a:ext>
            </a:extLst>
          </p:cNvPr>
          <p:cNvSpPr txBox="1"/>
          <p:nvPr/>
        </p:nvSpPr>
        <p:spPr>
          <a:xfrm>
            <a:off x="1320756" y="2375668"/>
            <a:ext cx="5744072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562AD2A-53B2-D25A-0DCD-FF9938006EF4}"/>
              </a:ext>
            </a:extLst>
          </p:cNvPr>
          <p:cNvSpPr txBox="1"/>
          <p:nvPr/>
        </p:nvSpPr>
        <p:spPr>
          <a:xfrm>
            <a:off x="1320756" y="3324283"/>
            <a:ext cx="5744074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--build build/  --clean-first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59F539-D86C-9B93-84F4-1368ED8733F3}"/>
              </a:ext>
            </a:extLst>
          </p:cNvPr>
          <p:cNvSpPr txBox="1"/>
          <p:nvPr/>
        </p:nvSpPr>
        <p:spPr>
          <a:xfrm>
            <a:off x="1320754" y="4391181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--install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D2B9CA8-B854-0CE6-A8C2-3080D3BCA8D0}"/>
              </a:ext>
            </a:extLst>
          </p:cNvPr>
          <p:cNvSpPr txBox="1"/>
          <p:nvPr/>
        </p:nvSpPr>
        <p:spPr>
          <a:xfrm>
            <a:off x="1320753" y="5458079"/>
            <a:ext cx="5744075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  --target clean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591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7" grpId="0" animBg="1"/>
      <p:bldP spid="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45C9C-7D76-745A-A2D7-73BF7C3F2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complex examples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71A25A-E0DF-F20E-F522-0FC3336AD8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8131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Building a library: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library</a:t>
            </a:r>
          </a:p>
          <a:p>
            <a:r>
              <a:rPr lang="en-US" dirty="0"/>
              <a:t>Using GNU GSL: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external-library</a:t>
            </a:r>
          </a:p>
          <a:p>
            <a:r>
              <a:rPr lang="en-US" dirty="0"/>
              <a:t>Using Boost: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boost</a:t>
            </a:r>
          </a:p>
          <a:p>
            <a:r>
              <a:rPr lang="en-US" dirty="0"/>
              <a:t>Using BLAS/</a:t>
            </a:r>
            <a:r>
              <a:rPr lang="en-US" dirty="0" err="1"/>
              <a:t>Lapack</a:t>
            </a:r>
            <a:r>
              <a:rPr lang="en-US" dirty="0"/>
              <a:t>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blas-lapack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Installing executables and scripts: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mixed-code-and-scripts-install</a:t>
            </a:r>
          </a:p>
          <a:p>
            <a:r>
              <a:rPr lang="en-US" dirty="0"/>
              <a:t>Doing a static build: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static-build</a:t>
            </a:r>
          </a:p>
          <a:p>
            <a:r>
              <a:rPr lang="en-US" dirty="0"/>
              <a:t>Compiling OpenMP: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openmp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/>
              <a:t>Using TBB: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tbb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2C3E23-543D-A09F-6DAD-0D96FC777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17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955AC6-BCD4-5950-15BE-9C1D80357BFE}"/>
              </a:ext>
            </a:extLst>
          </p:cNvPr>
          <p:cNvSpPr txBox="1"/>
          <p:nvPr/>
        </p:nvSpPr>
        <p:spPr>
          <a:xfrm>
            <a:off x="310281" y="5573682"/>
            <a:ext cx="10684592" cy="40011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 </a:t>
            </a:r>
            <a:r>
              <a:rPr lang="en-US" sz="2000" dirty="0">
                <a:hlinkClick r:id="rId2"/>
              </a:rPr>
              <a:t>https://github.com/gjbex/C-plus-plus-software-engineering/tree/main/source-code/cmake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403290957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27B6A9-87E8-33A2-208E-64291490C5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CDAC0-9FAB-6CB2-6551-6461EA57BC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CMake</a:t>
            </a:r>
            <a:r>
              <a:rPr lang="en-US" dirty="0"/>
              <a:t> documentation &amp; community</a:t>
            </a:r>
            <a:br>
              <a:rPr lang="en-US" dirty="0"/>
            </a:br>
            <a:r>
              <a:rPr lang="en-US" dirty="0">
                <a:hlinkClick r:id="rId2"/>
              </a:rPr>
              <a:t>https://cmake.org/documentation/</a:t>
            </a:r>
            <a:r>
              <a:rPr lang="en-US" dirty="0"/>
              <a:t> </a:t>
            </a:r>
          </a:p>
          <a:p>
            <a:r>
              <a:rPr lang="en-US" dirty="0"/>
              <a:t> Dominik Berner and Mustafa Kemal </a:t>
            </a:r>
            <a:r>
              <a:rPr lang="en-US" dirty="0" err="1"/>
              <a:t>Gilor</a:t>
            </a:r>
            <a:r>
              <a:rPr lang="en-US" dirty="0"/>
              <a:t> (2022) </a:t>
            </a:r>
            <a:r>
              <a:rPr lang="en-US" i="1" dirty="0" err="1"/>
              <a:t>CMake</a:t>
            </a:r>
            <a:r>
              <a:rPr lang="en-US" i="1" dirty="0"/>
              <a:t> Best Practices: Discover proven techniques for creating and maintaining programming projects with </a:t>
            </a:r>
            <a:r>
              <a:rPr lang="en-US" i="1" dirty="0" err="1"/>
              <a:t>Cmake</a:t>
            </a:r>
            <a:r>
              <a:rPr lang="en-US" dirty="0"/>
              <a:t>, </a:t>
            </a:r>
            <a:r>
              <a:rPr lang="en-US" dirty="0" err="1"/>
              <a:t>Packt</a:t>
            </a:r>
            <a:endParaRPr lang="en-US" dirty="0"/>
          </a:p>
          <a:p>
            <a:r>
              <a:rPr lang="en-US" dirty="0"/>
              <a:t>Better </a:t>
            </a:r>
            <a:r>
              <a:rPr lang="en-US" dirty="0" err="1"/>
              <a:t>CMake</a:t>
            </a:r>
            <a:br>
              <a:rPr lang="en-US" dirty="0"/>
            </a:br>
            <a:r>
              <a:rPr lang="en-US" sz="2000" dirty="0">
                <a:hlinkClick r:id="rId3"/>
              </a:rPr>
              <a:t>https://www.youtube.com/playlist?list=PL8i3OhJb4FNV10aIZ8oF0AA46HgA2ed8g</a:t>
            </a:r>
            <a:r>
              <a:rPr lang="en-US" sz="2000" dirty="0"/>
              <a:t> </a:t>
            </a:r>
          </a:p>
          <a:p>
            <a:r>
              <a:rPr lang="en-US" dirty="0"/>
              <a:t>Pablo Arias (2018) </a:t>
            </a:r>
            <a:r>
              <a:rPr lang="en-US" i="1" dirty="0"/>
              <a:t>It's time to do </a:t>
            </a:r>
            <a:r>
              <a:rPr lang="en-US" i="1" dirty="0" err="1"/>
              <a:t>CMake</a:t>
            </a:r>
            <a:r>
              <a:rPr lang="en-US" i="1" dirty="0"/>
              <a:t> right</a:t>
            </a:r>
            <a:br>
              <a:rPr lang="en-US" sz="2000" dirty="0"/>
            </a:br>
            <a:r>
              <a:rPr lang="en-US" sz="2000" dirty="0">
                <a:hlinkClick r:id="rId4"/>
              </a:rPr>
              <a:t>https://pabloariasal.github.io/2018/02/19/its-time-to-do-cmake-right/</a:t>
            </a:r>
            <a:r>
              <a:rPr lang="en-US" sz="2000" dirty="0"/>
              <a:t> </a:t>
            </a:r>
          </a:p>
          <a:p>
            <a:r>
              <a:rPr lang="en-US" dirty="0"/>
              <a:t>Daniel Pfeifer's </a:t>
            </a:r>
            <a:r>
              <a:rPr lang="en-US" i="1" dirty="0"/>
              <a:t>Effective </a:t>
            </a:r>
            <a:r>
              <a:rPr lang="en-US" i="1" dirty="0" err="1"/>
              <a:t>CMake</a:t>
            </a:r>
            <a:br>
              <a:rPr lang="en-US" sz="2000" dirty="0"/>
            </a:br>
            <a:r>
              <a:rPr lang="en-US" sz="2000" dirty="0">
                <a:hlinkClick r:id="rId5"/>
              </a:rPr>
              <a:t>https://youtu.be/rLopVhns4Zs?si=iu9i97KpIIldR41D</a:t>
            </a:r>
            <a:r>
              <a:rPr lang="en-US" sz="2000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04F51-69AC-BC2B-B3BC-F1C0271BDE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891046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9A4F0A-2A84-7AF9-7709-87E9D11D58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Static code analysis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39A529-FC28-9BA3-DB34-576128C290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BD80E7-7B5E-E5E8-E17C-8EEEC1B251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19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76876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846BC-E71F-1929-301C-C215D040A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E71F70-59FE-A16C-E6C8-51F668BD56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Search for known</a:t>
            </a:r>
          </a:p>
          <a:p>
            <a:pPr lvl="1"/>
            <a:r>
              <a:rPr lang="en-US" dirty="0"/>
              <a:t>buggy code patterns</a:t>
            </a:r>
          </a:p>
          <a:p>
            <a:pPr lvl="1"/>
            <a:r>
              <a:rPr lang="en-US" dirty="0"/>
              <a:t>performance issues</a:t>
            </a:r>
          </a:p>
          <a:p>
            <a:pPr lvl="1"/>
            <a:r>
              <a:rPr lang="en-US" dirty="0"/>
              <a:t>deprecated coding style</a:t>
            </a:r>
          </a:p>
          <a:p>
            <a:pPr lvl="1"/>
            <a:r>
              <a:rPr lang="en-US" dirty="0"/>
              <a:t>...</a:t>
            </a:r>
          </a:p>
          <a:p>
            <a:r>
              <a:rPr lang="en-US" dirty="0"/>
              <a:t>Various implementations</a:t>
            </a:r>
          </a:p>
          <a:p>
            <a:pPr lvl="1"/>
            <a:r>
              <a:rPr lang="en-US" dirty="0"/>
              <a:t>clang-tidy</a:t>
            </a:r>
          </a:p>
          <a:p>
            <a:pPr lvl="1"/>
            <a:r>
              <a:rPr lang="en-US" dirty="0" err="1"/>
              <a:t>cppcheck</a:t>
            </a:r>
            <a:endParaRPr lang="en-US" dirty="0"/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38307-A730-BDEC-3EC9-01FC74C4F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3B1101-4F8B-017C-6A05-A10FD69F6145}"/>
              </a:ext>
            </a:extLst>
          </p:cNvPr>
          <p:cNvSpPr txBox="1"/>
          <p:nvPr/>
        </p:nvSpPr>
        <p:spPr>
          <a:xfrm>
            <a:off x="92564" y="5486594"/>
            <a:ext cx="11089767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https://github.com/gjbex/C-plus-plus-software-engineering/tree/main/source-code/static-analysis</a:t>
            </a:r>
            <a:r>
              <a:rPr lang="en-US" sz="2000" dirty="0"/>
              <a:t>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30691557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549CA-6E36-F65E-1A27-A74B160DD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941343-A9C5-D765-4E2E-E373673127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clang-tidy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https://clang.llvm.org/extra/clang-tidy/</a:t>
            </a:r>
            <a:r>
              <a:rPr lang="en-US" dirty="0"/>
              <a:t> </a:t>
            </a:r>
          </a:p>
          <a:p>
            <a:r>
              <a:rPr lang="en-US" dirty="0" err="1"/>
              <a:t>cppcheck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https://cppcheck.sourceforge.io/#documentation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12BED7-5D3F-391D-1E2C-0B002A979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1996314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B73CB-2434-132E-8DCF-BA439F00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79DC32-9D2C-63F2-E64F-DEC55584D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E94A69-BEA7-FBFA-9E48-F2BC9913F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501322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A3D2F-F6C6-95B0-3A39-A6919D0FA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53267F-7BE9-8A04-BDF4-689EF366E4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Unit testing</a:t>
            </a:r>
          </a:p>
          <a:p>
            <a:pPr lvl="1"/>
            <a:r>
              <a:rPr lang="en-US" dirty="0"/>
              <a:t>API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/>
              <a:t>Catch2</a:t>
            </a:r>
          </a:p>
          <a:p>
            <a:pPr lvl="2"/>
            <a:r>
              <a:rPr lang="en-US" dirty="0"/>
              <a:t>Google Test</a:t>
            </a:r>
          </a:p>
          <a:p>
            <a:pPr lvl="2"/>
            <a:r>
              <a:rPr lang="en-US" dirty="0" err="1"/>
              <a:t>cppunit</a:t>
            </a:r>
            <a:endParaRPr lang="en-US" dirty="0"/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Functional testing</a:t>
            </a:r>
          </a:p>
          <a:p>
            <a:pPr lvl="1"/>
            <a:r>
              <a:rPr lang="en-US" dirty="0"/>
              <a:t>Application level</a:t>
            </a:r>
          </a:p>
          <a:p>
            <a:pPr lvl="1"/>
            <a:r>
              <a:rPr lang="en-US" dirty="0"/>
              <a:t>Various frameworks</a:t>
            </a:r>
          </a:p>
          <a:p>
            <a:pPr lvl="2"/>
            <a:r>
              <a:rPr lang="en-US" dirty="0" err="1"/>
              <a:t>CTest</a:t>
            </a:r>
            <a:endParaRPr lang="en-US" dirty="0"/>
          </a:p>
          <a:p>
            <a:pPr lvl="2"/>
            <a:r>
              <a:rPr lang="en-US" dirty="0"/>
              <a:t>Shunit2</a:t>
            </a:r>
          </a:p>
          <a:p>
            <a:pPr lvl="2"/>
            <a:r>
              <a:rPr lang="en-US" dirty="0"/>
              <a:t>Google </a:t>
            </a:r>
            <a:r>
              <a:rPr lang="en-US" dirty="0" err="1"/>
              <a:t>FuzzyTest</a:t>
            </a:r>
            <a:endParaRPr lang="en-US" dirty="0"/>
          </a:p>
          <a:p>
            <a:r>
              <a:rPr lang="en-US" dirty="0"/>
              <a:t>...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02D11-C8B1-FCCE-45DC-355EB5441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505899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Unit testing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74629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Key concepts</a:t>
            </a:r>
          </a:p>
          <a:p>
            <a:pPr lvl="1"/>
            <a:r>
              <a:rPr lang="en-US" dirty="0"/>
              <a:t>Implementation tested through API</a:t>
            </a:r>
          </a:p>
          <a:p>
            <a:pPr lvl="1"/>
            <a:r>
              <a:rPr lang="en-US" dirty="0"/>
              <a:t>Testing should be easy</a:t>
            </a:r>
          </a:p>
          <a:p>
            <a:pPr lvl="1"/>
            <a:r>
              <a:rPr lang="en-US" dirty="0"/>
              <a:t>Tests are independent of one another</a:t>
            </a:r>
          </a:p>
          <a:p>
            <a:r>
              <a:rPr lang="en-US" dirty="0"/>
              <a:t>Find problems early/fast</a:t>
            </a:r>
          </a:p>
          <a:p>
            <a:r>
              <a:rPr lang="en-US" dirty="0"/>
              <a:t>Facilitates change</a:t>
            </a:r>
          </a:p>
          <a:p>
            <a:pPr lvl="1"/>
            <a:r>
              <a:rPr lang="en-US" dirty="0"/>
              <a:t>Make small change, run tests</a:t>
            </a:r>
          </a:p>
          <a:p>
            <a:r>
              <a:rPr lang="en-US" dirty="0"/>
              <a:t>TDD: Test Driven Development</a:t>
            </a:r>
          </a:p>
          <a:p>
            <a:pPr lvl="1"/>
            <a:r>
              <a:rPr lang="en-US" dirty="0"/>
              <a:t>Write tests first, then implement</a:t>
            </a:r>
          </a:p>
          <a:p>
            <a:r>
              <a:rPr lang="en-US" dirty="0"/>
              <a:t>Programming framework, e.g., Catch2</a:t>
            </a:r>
            <a:endParaRPr lang="nl-BE" dirty="0"/>
          </a:p>
        </p:txBody>
      </p:sp>
      <p:grpSp>
        <p:nvGrpSpPr>
          <p:cNvPr id="6" name="Group 5"/>
          <p:cNvGrpSpPr/>
          <p:nvPr/>
        </p:nvGrpSpPr>
        <p:grpSpPr>
          <a:xfrm>
            <a:off x="7320137" y="3284985"/>
            <a:ext cx="3155315" cy="1980559"/>
            <a:chOff x="4821276" y="3871774"/>
            <a:chExt cx="3155315" cy="1980559"/>
          </a:xfrm>
        </p:grpSpPr>
        <p:sp>
          <p:nvSpPr>
            <p:cNvPr id="7" name="Rounded Rectangle 6"/>
            <p:cNvSpPr/>
            <p:nvPr/>
          </p:nvSpPr>
          <p:spPr>
            <a:xfrm>
              <a:off x="4821276" y="3871774"/>
              <a:ext cx="3155315" cy="1980559"/>
            </a:xfrm>
            <a:prstGeom prst="round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prstClr val="white"/>
                </a:solidFill>
                <a:latin typeface="Calibri"/>
              </a:endParaRP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860032" y="3896713"/>
              <a:ext cx="3116559" cy="147732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"How to test?" is a question that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cannot be answered in general.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"When to test?" however, does have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a general answer: as early and as</a:t>
              </a:r>
            </a:p>
            <a:p>
              <a:pPr algn="just"/>
              <a:r>
                <a:rPr lang="en-US" dirty="0">
                  <a:solidFill>
                    <a:srgbClr val="0070C0"/>
                  </a:solidFill>
                  <a:latin typeface="Informal Roman" panose="030604020304060B0204" pitchFamily="66" charset="0"/>
                </a:rPr>
                <a:t>often as possible.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39790" y="5408069"/>
              <a:ext cx="1887824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solidFill>
                    <a:srgbClr val="0070C0"/>
                  </a:solidFill>
                  <a:latin typeface="Calibri"/>
                </a:rPr>
                <a:t>— Bjarne </a:t>
              </a:r>
              <a:r>
                <a:rPr lang="en-US" sz="1600" dirty="0" err="1">
                  <a:solidFill>
                    <a:srgbClr val="0070C0"/>
                  </a:solidFill>
                  <a:latin typeface="Calibri"/>
                </a:rPr>
                <a:t>Stroustrup</a:t>
              </a:r>
              <a:endParaRPr lang="en-US" sz="1600" dirty="0">
                <a:solidFill>
                  <a:srgbClr val="0070C0"/>
                </a:solidFill>
                <a:latin typeface="Calibri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625959B0-A5E0-E823-3BE8-2CAE1318BB5B}"/>
              </a:ext>
            </a:extLst>
          </p:cNvPr>
          <p:cNvSpPr txBox="1"/>
          <p:nvPr/>
        </p:nvSpPr>
        <p:spPr>
          <a:xfrm>
            <a:off x="92564" y="5628104"/>
            <a:ext cx="11068030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https://github.com/gjbex/C-plus-plus-software-engineering/tree/main/source-code/testing/catch2</a:t>
            </a:r>
            <a:r>
              <a:rPr lang="en-US" sz="2000" dirty="0"/>
              <a:t> </a:t>
            </a:r>
            <a:endParaRPr lang="LID4096" sz="20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815017-2C3F-178B-ED98-26815A80D8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4639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6C305-1691-253D-899F-2529DA2F8C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testing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2F1548-00CD-56AC-8AE0-2F71AB0480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Run application and test results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52B5F1-BECE-8C34-3175-DE4394D8F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25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3D44E7-5D9C-4329-6ACC-7C98642694A0}"/>
              </a:ext>
            </a:extLst>
          </p:cNvPr>
          <p:cNvSpPr txBox="1"/>
          <p:nvPr/>
        </p:nvSpPr>
        <p:spPr>
          <a:xfrm>
            <a:off x="107694" y="2547447"/>
            <a:ext cx="1091798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2000" dirty="0">
                <a:hlinkClick r:id="rId2"/>
              </a:rPr>
              <a:t>https://github.com/gjbex/C-plus-plus-software-engineering/tree/main/source-code/testing/ctest</a:t>
            </a:r>
            <a:r>
              <a:rPr lang="en-US" sz="2000" dirty="0"/>
              <a:t>  </a:t>
            </a:r>
            <a:endParaRPr lang="LID4096" sz="2000" dirty="0"/>
          </a:p>
        </p:txBody>
      </p:sp>
    </p:spTree>
    <p:extLst>
      <p:ext uri="{BB962C8B-B14F-4D97-AF65-F5344CB8AC3E}">
        <p14:creationId xmlns:p14="http://schemas.microsoft.com/office/powerpoint/2010/main" val="1488497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FEFB0-A4A9-60C0-B838-D7617934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1784A-7F6B-CC16-C0F2-B288CC15E1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3853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Catch2 tutorial</a:t>
            </a:r>
            <a:br>
              <a:rPr lang="en-US" dirty="0"/>
            </a:br>
            <a:r>
              <a:rPr lang="en-US" dirty="0">
                <a:hlinkClick r:id="rId2"/>
              </a:rPr>
              <a:t>https://github.com/catchorg/Catch2/blob/devel/docs/tutorial.md#top</a:t>
            </a:r>
            <a:r>
              <a:rPr lang="en-US" dirty="0"/>
              <a:t> </a:t>
            </a:r>
          </a:p>
          <a:p>
            <a:r>
              <a:rPr lang="en-US" dirty="0"/>
              <a:t>Google Test primer</a:t>
            </a:r>
            <a:br>
              <a:rPr lang="en-US" dirty="0"/>
            </a:br>
            <a:r>
              <a:rPr lang="en-US" dirty="0">
                <a:hlinkClick r:id="rId3"/>
              </a:rPr>
              <a:t>https://google.github.io/googletest/primer.html</a:t>
            </a:r>
            <a:r>
              <a:rPr lang="en-US" dirty="0"/>
              <a:t> </a:t>
            </a:r>
          </a:p>
          <a:p>
            <a:r>
              <a:rPr lang="en-US" dirty="0" err="1"/>
              <a:t>cppunit</a:t>
            </a:r>
            <a:br>
              <a:rPr lang="en-US" dirty="0"/>
            </a:br>
            <a:r>
              <a:rPr lang="en-US" dirty="0">
                <a:hlinkClick r:id="rId4"/>
              </a:rPr>
              <a:t>https://www.freedesktop.org/wiki/Software/cppunit/</a:t>
            </a:r>
            <a:r>
              <a:rPr lang="en-US" dirty="0"/>
              <a:t> </a:t>
            </a:r>
          </a:p>
          <a:p>
            <a:r>
              <a:rPr lang="en-US" dirty="0" err="1"/>
              <a:t>CTest</a:t>
            </a:r>
            <a:br>
              <a:rPr lang="en-US" dirty="0"/>
            </a:br>
            <a:r>
              <a:rPr lang="en-US" dirty="0">
                <a:hlinkClick r:id="rId5"/>
              </a:rPr>
              <a:t>https://cmake.org/cmake/help/latest/module/CTest.html</a:t>
            </a:r>
            <a:r>
              <a:rPr lang="en-US" dirty="0"/>
              <a:t> </a:t>
            </a:r>
          </a:p>
          <a:p>
            <a:r>
              <a:rPr lang="en-US" dirty="0"/>
              <a:t>Google </a:t>
            </a:r>
            <a:r>
              <a:rPr lang="en-US" dirty="0" err="1"/>
              <a:t>FuzzTest</a:t>
            </a:r>
            <a:br>
              <a:rPr lang="en-US" dirty="0"/>
            </a:br>
            <a:r>
              <a:rPr lang="en-US" dirty="0">
                <a:hlinkClick r:id="rId6"/>
              </a:rPr>
              <a:t>https://github.com/google/fuzztest</a:t>
            </a:r>
            <a:r>
              <a:rPr lang="en-US" dirty="0"/>
              <a:t> </a:t>
            </a:r>
          </a:p>
          <a:p>
            <a:r>
              <a:rPr lang="en-US" dirty="0"/>
              <a:t>shunit2</a:t>
            </a:r>
            <a:br>
              <a:rPr lang="en-US" dirty="0"/>
            </a:br>
            <a:r>
              <a:rPr lang="en-US" dirty="0">
                <a:hlinkClick r:id="rId7"/>
              </a:rPr>
              <a:t>https://github.com/kward/shunit2</a:t>
            </a: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9F9615-03AB-3F06-69F5-EC793295A7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0650149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069EDD-AAA1-86E7-6663-1799EEA4BB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management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84B348-AA22-783F-4CC3-747D6B7171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22FDCA-806A-FB0B-1F52-91BD63064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346703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8B151D-EE93-90D9-EB18-32064A36C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Package managers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301B4-11F1-BA22-7463-50F7F9042A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Conan</a:t>
            </a:r>
          </a:p>
          <a:p>
            <a:pPr lvl="1"/>
            <a:r>
              <a:rPr lang="en-US" dirty="0"/>
              <a:t>Wide range of software packages</a:t>
            </a:r>
          </a:p>
          <a:p>
            <a:pPr lvl="1"/>
            <a:r>
              <a:rPr lang="en-US" dirty="0"/>
              <a:t>Mature</a:t>
            </a:r>
          </a:p>
          <a:p>
            <a:r>
              <a:rPr lang="en-US" dirty="0" err="1"/>
              <a:t>vcpkg</a:t>
            </a:r>
            <a:endParaRPr lang="en-US" dirty="0"/>
          </a:p>
          <a:p>
            <a:pPr lvl="1"/>
            <a:r>
              <a:rPr lang="en-US" dirty="0"/>
              <a:t>Microsoft-backed</a:t>
            </a:r>
          </a:p>
          <a:p>
            <a:pPr lvl="1"/>
            <a:r>
              <a:rPr lang="en-US" dirty="0"/>
              <a:t>Wide range of software packages</a:t>
            </a:r>
          </a:p>
          <a:p>
            <a:r>
              <a:rPr lang="en-US" dirty="0"/>
              <a:t>CPM</a:t>
            </a:r>
          </a:p>
          <a:p>
            <a:pPr lvl="1"/>
            <a:r>
              <a:rPr lang="en-US" dirty="0" err="1"/>
              <a:t>CMake</a:t>
            </a:r>
            <a:r>
              <a:rPr lang="en-US" dirty="0"/>
              <a:t> centric</a:t>
            </a:r>
          </a:p>
          <a:p>
            <a:pPr lvl="1"/>
            <a:r>
              <a:rPr lang="en-US" dirty="0"/>
              <a:t>Pure </a:t>
            </a:r>
            <a:r>
              <a:rPr lang="en-US" dirty="0" err="1"/>
              <a:t>Cmake</a:t>
            </a:r>
            <a:r>
              <a:rPr lang="en-US" dirty="0"/>
              <a:t>, (almost) zero install</a:t>
            </a:r>
          </a:p>
          <a:p>
            <a:pPr lvl="1"/>
            <a:r>
              <a:rPr lang="en-US" dirty="0"/>
              <a:t>Relies on CMakeLists.txt of software packages</a:t>
            </a:r>
          </a:p>
          <a:p>
            <a:pPr lvl="1"/>
            <a:r>
              <a:rPr lang="en-US" dirty="0"/>
              <a:t>Can pull GitHub repositories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E0D5F-6FF4-E9A6-B9F1-99B8650150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80472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72BB8-489C-2322-537A-7D10CD60E2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basic usage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33EA31-C42C-5434-AB56-1E275880B3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Set up</a:t>
            </a:r>
          </a:p>
          <a:p>
            <a:endParaRPr lang="en-US" dirty="0"/>
          </a:p>
          <a:p>
            <a:r>
              <a:rPr lang="en-US" dirty="0"/>
              <a:t>Write project requirement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</a:p>
          <a:p>
            <a:r>
              <a:rPr lang="en-US" dirty="0"/>
              <a:t>Install dependencies</a:t>
            </a:r>
          </a:p>
          <a:p>
            <a:endParaRPr lang="en-US" dirty="0"/>
          </a:p>
          <a:p>
            <a:r>
              <a:rPr lang="en-US" dirty="0"/>
              <a:t>Change to build directory</a:t>
            </a:r>
          </a:p>
          <a:p>
            <a:endParaRPr lang="en-US" dirty="0"/>
          </a:p>
          <a:p>
            <a:r>
              <a:rPr lang="en-US" dirty="0"/>
              <a:t>Generate build files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Build project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DC3C9C-C2DF-9153-4AC9-6C00AF6C5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29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5810F3-8FBD-0FB5-304B-AE7E19556B08}"/>
              </a:ext>
            </a:extLst>
          </p:cNvPr>
          <p:cNvSpPr txBox="1"/>
          <p:nvPr/>
        </p:nvSpPr>
        <p:spPr>
          <a:xfrm>
            <a:off x="1320756" y="2190610"/>
            <a:ext cx="85199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pip install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&amp;&amp;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profile detect  --force  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FD7ED03-37FB-D1F6-E11E-87F957D13740}"/>
              </a:ext>
            </a:extLst>
          </p:cNvPr>
          <p:cNvSpPr txBox="1"/>
          <p:nvPr/>
        </p:nvSpPr>
        <p:spPr>
          <a:xfrm>
            <a:off x="1244556" y="3315885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. --output-folder=build/  --build=missing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7AA2343-8684-816B-C4E4-32B1A369AB46}"/>
              </a:ext>
            </a:extLst>
          </p:cNvPr>
          <p:cNvSpPr txBox="1"/>
          <p:nvPr/>
        </p:nvSpPr>
        <p:spPr>
          <a:xfrm>
            <a:off x="1244556" y="4093598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cd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0D800B7-D9CD-26C6-E7F5-C225C0026105}"/>
              </a:ext>
            </a:extLst>
          </p:cNvPr>
          <p:cNvSpPr txBox="1"/>
          <p:nvPr/>
        </p:nvSpPr>
        <p:spPr>
          <a:xfrm>
            <a:off x="1244556" y="4843113"/>
            <a:ext cx="8596130" cy="6463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.. -DCMAKE_TOOLCHAIN_FILE=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conan_toolchain.cmake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      -DCMAKE_BUILD_TYPE=Release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71EF2D7-BBEF-BF21-3B57-3989D45D8C00}"/>
              </a:ext>
            </a:extLst>
          </p:cNvPr>
          <p:cNvSpPr txBox="1"/>
          <p:nvPr/>
        </p:nvSpPr>
        <p:spPr>
          <a:xfrm>
            <a:off x="1244556" y="6010793"/>
            <a:ext cx="859613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.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3203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8F323-D508-052E-81AA-3967DF5D3E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Conan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conanfile.txt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948D6F-B812-A6FE-48AE-8C1C6DAC70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30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3885617-2387-7D06-419B-33D3DD032E99}"/>
              </a:ext>
            </a:extLst>
          </p:cNvPr>
          <p:cNvSpPr txBox="1"/>
          <p:nvPr/>
        </p:nvSpPr>
        <p:spPr>
          <a:xfrm>
            <a:off x="961528" y="2261499"/>
            <a:ext cx="3882616" cy="1754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[requires]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blaze/3.8.2@</a:t>
            </a:r>
          </a:p>
          <a:p>
            <a:pPr lvl="0">
              <a:defRPr/>
            </a:pPr>
            <a:endParaRPr lang="en-US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[generators]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CMakeDeps</a:t>
            </a:r>
          </a:p>
          <a:p>
            <a:pPr lvl="0">
              <a:defRPr/>
            </a:pPr>
            <a:r>
              <a:rPr lang="en-US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CMakeToolchain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8D1DBEB0-B557-06A2-DEA1-A7F8BE805909}"/>
              </a:ext>
            </a:extLst>
          </p:cNvPr>
          <p:cNvGrpSpPr/>
          <p:nvPr/>
        </p:nvGrpSpPr>
        <p:grpSpPr>
          <a:xfrm>
            <a:off x="2775858" y="2359861"/>
            <a:ext cx="5547908" cy="523220"/>
            <a:chOff x="6226629" y="2076833"/>
            <a:chExt cx="5547908" cy="52322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971371F-2DC9-3A08-DFDE-0F24C0B7576C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Dependencies</a:t>
              </a:r>
              <a:endParaRPr lang="LID4096" sz="2800" dirty="0"/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D3CA3A64-A19E-614C-9D2E-8EC0B253E329}"/>
                </a:ext>
              </a:extLst>
            </p:cNvPr>
            <p:cNvCxnSpPr>
              <a:cxnSpLocks/>
              <a:stCxn id="8" idx="1"/>
            </p:cNvCxnSpPr>
            <p:nvPr/>
          </p:nvCxnSpPr>
          <p:spPr>
            <a:xfrm flipH="1">
              <a:off x="6226629" y="2338443"/>
              <a:ext cx="2198914" cy="9995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A8F2148E-D168-66D4-0394-2B03932499A8}"/>
              </a:ext>
            </a:extLst>
          </p:cNvPr>
          <p:cNvGrpSpPr/>
          <p:nvPr/>
        </p:nvGrpSpPr>
        <p:grpSpPr>
          <a:xfrm>
            <a:off x="3200400" y="3311822"/>
            <a:ext cx="5123366" cy="523220"/>
            <a:chOff x="6651171" y="2076833"/>
            <a:chExt cx="5123366" cy="52322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4AF9A261-C482-DD5C-5981-86DCB3D9621D}"/>
                </a:ext>
              </a:extLst>
            </p:cNvPr>
            <p:cNvSpPr txBox="1"/>
            <p:nvPr/>
          </p:nvSpPr>
          <p:spPr>
            <a:xfrm>
              <a:off x="8425543" y="2076833"/>
              <a:ext cx="3348994" cy="52322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dirty="0"/>
                <a:t>Build generator</a:t>
              </a:r>
              <a:endParaRPr lang="LID4096" sz="2800" dirty="0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2C7EBFB8-4B1A-B948-4738-A820942FCF25}"/>
                </a:ext>
              </a:extLst>
            </p:cNvPr>
            <p:cNvCxnSpPr>
              <a:cxnSpLocks/>
              <a:stCxn id="11" idx="1"/>
            </p:cNvCxnSpPr>
            <p:nvPr/>
          </p:nvCxnSpPr>
          <p:spPr>
            <a:xfrm flipH="1">
              <a:off x="6651171" y="2338443"/>
              <a:ext cx="1774372" cy="787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3776B5-EDE2-7785-DB56-371FC5AE1F99}"/>
              </a:ext>
            </a:extLst>
          </p:cNvPr>
          <p:cNvSpPr txBox="1"/>
          <p:nvPr/>
        </p:nvSpPr>
        <p:spPr>
          <a:xfrm>
            <a:off x="466923" y="4735915"/>
            <a:ext cx="1057879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https://github.com/gjbex/C-plus-plus-software-engineering/tree/main/source-code/dependency-management/conan</a:t>
            </a:r>
            <a:r>
              <a:rPr lang="en-US" sz="1600" dirty="0"/>
              <a:t> 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72915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82BC6-BD02-92B3-6DF5-32826DD98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vcpkg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C03A33-90AE-45DE-95DE-9952DA2C49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vcpkg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Install packages, e.g., blaze</a:t>
            </a:r>
          </a:p>
          <a:p>
            <a:endParaRPr lang="en-US" dirty="0"/>
          </a:p>
          <a:p>
            <a:r>
              <a:rPr lang="en-US" dirty="0"/>
              <a:t>Build your software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4AA61E-C7B7-2C01-844D-B47CFE01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31</a:t>
            </a:fld>
            <a:endParaRPr lang="LID4096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5911E9-B258-F3C0-F651-E01F9EEDC7BF}"/>
              </a:ext>
            </a:extLst>
          </p:cNvPr>
          <p:cNvSpPr txBox="1"/>
          <p:nvPr/>
        </p:nvSpPr>
        <p:spPr>
          <a:xfrm>
            <a:off x="1320756" y="2321241"/>
            <a:ext cx="10348728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git clone https://github.com/microsoft/vcpkg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./vcpkg/bootstrap-vcpkg.sh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export VCPKG_DIR=$(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pwdd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)/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6CFBE6D-9550-7036-54D5-55707E6A573F}"/>
              </a:ext>
            </a:extLst>
          </p:cNvPr>
          <p:cNvSpPr txBox="1"/>
          <p:nvPr/>
        </p:nvSpPr>
        <p:spPr>
          <a:xfrm>
            <a:off x="1320755" y="3890428"/>
            <a:ext cx="10348729" cy="37461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$VCPKG_DIR/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install blaze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9EBD776-B10E-52CA-3FAF-DA4973E7C030}"/>
              </a:ext>
            </a:extLst>
          </p:cNvPr>
          <p:cNvSpPr txBox="1"/>
          <p:nvPr/>
        </p:nvSpPr>
        <p:spPr>
          <a:xfrm>
            <a:off x="1320756" y="4849029"/>
            <a:ext cx="10348730" cy="92333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-S .  -B build/  \</a:t>
            </a: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    -DCMAKE_TOOLCHAIN_FILE=$VCPKG_DIR/scripts/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buildsystems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/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vcpkg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.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endParaRPr lang="en-US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--build build/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07894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10" grpId="0" animBg="1"/>
      <p:bldP spid="1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via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CMakeLists.txt</a:t>
            </a:r>
            <a:endParaRPr lang="LID4096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4062651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set(CPM_DOWNLOAD_VERSION 0.38.1)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if(CPM_SOURCE_CACHE)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elseif(DEFINED ENV{CPM_SOURCE_CACHE})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"$ENV{CPM_SOURCE_CACHE}/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else()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set(CPM_DOWNLOAD_LOCATION "${CMAKE_BINARY_DIR}/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/CPM_${CPM_DOWNLOAD_VERSION}.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if(NOT (EXISTS ${CPM_DOWNLOAD_LOCATION}))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message(STATUS "Downloading </a:t>
            </a:r>
            <a:r>
              <a:rPr lang="en-US" sz="12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CPM.cmake</a:t>
            </a: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to ${CPM_DOWNLOAD_LOCATION}")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file(DOWNLOAD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https://github.com/TheLartians/CPM.cmake/releases/download/v${CPM_DOWNLOAD_VERSION}/CPM.cmake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     ${CPM_DOWNLOAD_LOCATION}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  )</a:t>
            </a: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endif()</a:t>
            </a:r>
          </a:p>
          <a:p>
            <a:pPr lvl="0">
              <a:defRPr/>
            </a:pPr>
            <a:endParaRPr lang="en-US" sz="1200" dirty="0">
              <a:solidFill>
                <a:prstClr val="black"/>
              </a:solidFill>
              <a:latin typeface="Courier New" pitchFamily="49" charset="0"/>
              <a:cs typeface="Courier New" pitchFamily="49" charset="0"/>
            </a:endParaRPr>
          </a:p>
          <a:p>
            <a:pPr lvl="0">
              <a:defRPr/>
            </a:pPr>
            <a:r>
              <a:rPr lang="en-US" sz="12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rPr>
              <a:t>include(${CPM_DOWNLOAD_LOCATION})</a:t>
            </a:r>
          </a:p>
          <a:p>
            <a:pPr lvl="0">
              <a:defRPr/>
            </a:pPr>
            <a:r>
              <a:rPr lang="en-US" sz="18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105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2D882D-DD91-762A-9862-FA6E70657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CPM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3556D6-66A1-32F0-325E-89EF55D4D6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software packages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cs typeface="Courier New" panose="02070309020205020404" pitchFamily="49" charset="0"/>
              </a:rPr>
              <a:t>Download and build of dependencies done by </a:t>
            </a:r>
            <a:r>
              <a:rPr lang="en-US" dirty="0" err="1">
                <a:cs typeface="Courier New" panose="02070309020205020404" pitchFamily="49" charset="0"/>
              </a:rPr>
              <a:t>CMake</a:t>
            </a:r>
            <a:endParaRPr lang="LID4096" dirty="0">
              <a:cs typeface="Courier New" panose="020703090202050204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1DACAC-48E5-D353-91C5-829E80964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6A406B8-BE76-0E4B-5848-6008C26F5D6A}"/>
              </a:ext>
            </a:extLst>
          </p:cNvPr>
          <p:cNvSpPr txBox="1"/>
          <p:nvPr/>
        </p:nvSpPr>
        <p:spPr>
          <a:xfrm>
            <a:off x="1055915" y="2413899"/>
            <a:ext cx="9579429" cy="101566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</a:p>
          <a:p>
            <a:pPr lvl="0">
              <a:defRPr/>
            </a:pP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CPMAddPackage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("</a:t>
            </a:r>
            <a:r>
              <a:rPr lang="en-US" sz="2000" dirty="0" err="1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gh:fmtlib</a:t>
            </a: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/fmt#9.1.0")</a:t>
            </a:r>
          </a:p>
          <a:p>
            <a:pPr lvl="0">
              <a:defRPr/>
            </a:pPr>
            <a:r>
              <a:rPr lang="en-US" sz="2000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  <a:sym typeface="Symbol" panose="05050102010706020507" pitchFamily="18" charset="2"/>
              </a:rPr>
              <a:t>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4CD040-C2F1-2804-6DCE-6946592E60D7}"/>
              </a:ext>
            </a:extLst>
          </p:cNvPr>
          <p:cNvSpPr txBox="1"/>
          <p:nvPr/>
        </p:nvSpPr>
        <p:spPr>
          <a:xfrm>
            <a:off x="499580" y="4735915"/>
            <a:ext cx="1037681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https://github.com/gjbex/C-plus-plus-software-engineering/tree/main/source-code/dependency-management/cpm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959778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47E52C-C68B-48ED-C2F6-90624F3E92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5A2C6-A3DC-11B2-63F1-FAC2EF9310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Conan documentation</a:t>
            </a:r>
            <a:br>
              <a:rPr lang="en-US" dirty="0"/>
            </a:br>
            <a:r>
              <a:rPr lang="en-US" dirty="0">
                <a:hlinkClick r:id="rId2"/>
              </a:rPr>
              <a:t>https://docs.conan.io/2/</a:t>
            </a:r>
            <a:r>
              <a:rPr lang="en-US" dirty="0"/>
              <a:t> </a:t>
            </a:r>
          </a:p>
          <a:p>
            <a:r>
              <a:rPr lang="en-US" dirty="0" err="1"/>
              <a:t>vcpkg</a:t>
            </a:r>
            <a:r>
              <a:rPr lang="en-US" dirty="0"/>
              <a:t> documentation</a:t>
            </a:r>
            <a:br>
              <a:rPr lang="en-US" dirty="0"/>
            </a:br>
            <a:r>
              <a:rPr lang="en-US" dirty="0">
                <a:hlinkClick r:id="rId3"/>
              </a:rPr>
              <a:t>https://learn.microsoft.com/en-us/vcpkg/</a:t>
            </a:r>
            <a:endParaRPr lang="en-US" dirty="0"/>
          </a:p>
          <a:p>
            <a:r>
              <a:rPr lang="en-US" dirty="0"/>
              <a:t>CPM site</a:t>
            </a:r>
            <a:br>
              <a:rPr lang="en-US" dirty="0"/>
            </a:br>
            <a:r>
              <a:rPr lang="en-US" dirty="0">
                <a:hlinkClick r:id="rId4"/>
              </a:rPr>
              <a:t>https://github.com/cpm-cmake/CPM.cmake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CA5D4-ECE8-DEEA-8D8A-F23346724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8366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F76C8-EEE5-BD10-D020-7903EAD9C9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EA3E6-8044-0B38-CF28-AD544A8D39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principles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720BBA6-EB3B-C63C-B297-F522434879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A92102-CD2B-2AE1-3A67-B9FC9D46C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35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277672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44EBED66-2670-8733-B1E1-BF548FBEEE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Write SOLID code</a:t>
            </a:r>
            <a:endParaRPr lang="LID4096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3461225-6503-3951-050C-524821BD56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S: Single Responsibility  Principle (SRP)</a:t>
            </a:r>
          </a:p>
          <a:p>
            <a:r>
              <a:rPr lang="en-US" dirty="0"/>
              <a:t>O: Open-Closed Principle (OCP)</a:t>
            </a:r>
          </a:p>
          <a:p>
            <a:r>
              <a:rPr lang="en-US" dirty="0"/>
              <a:t>L: </a:t>
            </a:r>
            <a:r>
              <a:rPr lang="en-US" dirty="0" err="1"/>
              <a:t>Lishkov's</a:t>
            </a:r>
            <a:r>
              <a:rPr lang="en-US" dirty="0"/>
              <a:t> Substitution Principle (LSP)</a:t>
            </a:r>
          </a:p>
          <a:p>
            <a:r>
              <a:rPr lang="en-US" dirty="0"/>
              <a:t>I: Interface Segregation Principle (ISP)</a:t>
            </a:r>
          </a:p>
          <a:p>
            <a:r>
              <a:rPr lang="en-US" dirty="0"/>
              <a:t>D: Dependency Inversion Principle (DIP)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98A7F5-BF6B-DDE4-170A-993A93701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36</a:t>
            </a:fld>
            <a:endParaRPr lang="LID4096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B796EC-CA70-1487-EB97-FD445AB0CAE0}"/>
              </a:ext>
            </a:extLst>
          </p:cNvPr>
          <p:cNvSpPr txBox="1"/>
          <p:nvPr/>
        </p:nvSpPr>
        <p:spPr>
          <a:xfrm>
            <a:off x="499580" y="53346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678106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2DD127-EAC1-0F68-68F1-6F3335288D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Responsibility Principle (SRP)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CFEE37-C334-21D6-F03C-A070AAB93E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Class or function should have</a:t>
            </a:r>
          </a:p>
          <a:p>
            <a:pPr lvl="1"/>
            <a:r>
              <a:rPr lang="en-US" dirty="0"/>
              <a:t>only one reason to change</a:t>
            </a:r>
          </a:p>
          <a:p>
            <a:pPr lvl="1"/>
            <a:r>
              <a:rPr lang="en-US" dirty="0"/>
              <a:t>Single responsibility</a:t>
            </a:r>
          </a:p>
          <a:p>
            <a:pPr lvl="1"/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Improve maintainability</a:t>
            </a:r>
          </a:p>
          <a:p>
            <a:pPr lvl="1"/>
            <a:r>
              <a:rPr lang="en-US" dirty="0"/>
              <a:t>Improve clarity</a:t>
            </a:r>
          </a:p>
          <a:p>
            <a:pPr lvl="1"/>
            <a:r>
              <a:rPr lang="en-US" dirty="0"/>
              <a:t>Reduce coupling</a:t>
            </a:r>
          </a:p>
          <a:p>
            <a:pPr lvl="1"/>
            <a:r>
              <a:rPr lang="en-US" dirty="0"/>
              <a:t>Enable better testing</a:t>
            </a:r>
          </a:p>
          <a:p>
            <a:pPr lvl="1"/>
            <a:r>
              <a:rPr lang="en-US" dirty="0"/>
              <a:t>Support reusability</a:t>
            </a:r>
          </a:p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9EF1E3-1C27-491E-9859-8D60233DD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37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73078698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98534-5314-ED8A-2D5C-BF53A7593B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Open-Closed Principle (OCP)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9C9F3-F6D3-5289-99BF-EDE7276530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Classes, modules, functions should be</a:t>
            </a:r>
          </a:p>
          <a:p>
            <a:pPr lvl="1"/>
            <a:r>
              <a:rPr lang="en-US" dirty="0"/>
              <a:t>Open to extension</a:t>
            </a:r>
          </a:p>
          <a:p>
            <a:pPr lvl="1"/>
            <a:r>
              <a:rPr lang="en-US" dirty="0"/>
              <a:t>Closed to modification</a:t>
            </a:r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extensibility (Open)</a:t>
            </a:r>
          </a:p>
          <a:p>
            <a:pPr lvl="1"/>
            <a:r>
              <a:rPr lang="en-US" dirty="0"/>
              <a:t>Improve maintainability, existing code not affected by changes (Closed)</a:t>
            </a:r>
          </a:p>
          <a:p>
            <a:pPr lvl="1"/>
            <a:r>
              <a:rPr lang="en-US" dirty="0"/>
              <a:t>Support reusability and scaling (extension)</a:t>
            </a:r>
          </a:p>
          <a:p>
            <a:pPr lvl="1"/>
            <a:r>
              <a:rPr lang="en-US" dirty="0"/>
              <a:t>Encourage use of abstraction</a:t>
            </a:r>
          </a:p>
          <a:p>
            <a:pPr lvl="1"/>
            <a:r>
              <a:rPr lang="en-US" dirty="0"/>
              <a:t>Facilitate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D37776-E2ED-1B29-8806-EDFBC428E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956570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DCFEE-9305-DD43-9957-6FBC7EC77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Lishkov</a:t>
            </a:r>
            <a:r>
              <a:rPr lang="en-US" dirty="0"/>
              <a:t> Substitution Principle (LSP)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7B3E22-3234-FC76-BC35-1B45383057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Derived class can be used wherever base class is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Properly model "is-a" relationships, behavioral consistency</a:t>
            </a:r>
          </a:p>
          <a:p>
            <a:pPr lvl="1"/>
            <a:r>
              <a:rPr lang="en-US" dirty="0"/>
              <a:t>Preserve code correctness</a:t>
            </a:r>
          </a:p>
          <a:p>
            <a:pPr lvl="1"/>
            <a:r>
              <a:rPr lang="en-US" dirty="0"/>
              <a:t>Enable safe polymorphism</a:t>
            </a:r>
          </a:p>
          <a:p>
            <a:pPr lvl="1"/>
            <a:r>
              <a:rPr lang="en-US" dirty="0"/>
              <a:t>Improve reusability and maintainability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AC4016-1C85-BD04-ED17-1AF61B8D43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39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90DC1C-AF99-2AC5-15FF-C124F3A3AE1D}"/>
              </a:ext>
            </a:extLst>
          </p:cNvPr>
          <p:cNvSpPr txBox="1"/>
          <p:nvPr/>
        </p:nvSpPr>
        <p:spPr>
          <a:xfrm>
            <a:off x="1753688" y="2400842"/>
            <a:ext cx="733726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“If a piece of code works with the parent class,</a:t>
            </a:r>
          </a:p>
          <a:p>
            <a:pPr algn="ctr"/>
            <a:r>
              <a:rPr lang="en-US" sz="2800" i="1" dirty="0"/>
              <a:t>it should also work with any subclass, without</a:t>
            </a:r>
          </a:p>
          <a:p>
            <a:r>
              <a:rPr lang="en-US" sz="2800" i="1" dirty="0"/>
              <a:t>knowing the difference.”</a:t>
            </a:r>
            <a:endParaRPr lang="LID4096" sz="2800" i="1" dirty="0"/>
          </a:p>
        </p:txBody>
      </p:sp>
    </p:spTree>
    <p:extLst>
      <p:ext uri="{BB962C8B-B14F-4D97-AF65-F5344CB8AC3E}">
        <p14:creationId xmlns:p14="http://schemas.microsoft.com/office/powerpoint/2010/main" val="416344149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7D84CA-DCC8-327D-4D6B-61C3C57BD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Interface Segregation Principle (ISP)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946CFA-1CFD-FF58-57EE-451EA8560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Do not force to depend on irrelevant interfaces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Reduce coupling, unnecessary dependencies</a:t>
            </a:r>
          </a:p>
          <a:p>
            <a:pPr lvl="1"/>
            <a:r>
              <a:rPr lang="en-US" dirty="0"/>
              <a:t>Improve code maintainability</a:t>
            </a:r>
          </a:p>
          <a:p>
            <a:pPr lvl="1"/>
            <a:r>
              <a:rPr lang="en-US" dirty="0"/>
              <a:t>Improve flexibility and reusability</a:t>
            </a:r>
          </a:p>
          <a:p>
            <a:pPr lvl="1"/>
            <a:r>
              <a:rPr lang="en-US" dirty="0"/>
              <a:t>Minimize impact of changes</a:t>
            </a:r>
          </a:p>
          <a:p>
            <a:pPr lvl="1"/>
            <a:r>
              <a:rPr lang="en-US" dirty="0"/>
              <a:t>Encourage cleaner architecture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81CBB3-5E56-BE31-05B6-81EB863143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0011BAA-7AC3-717D-7B8E-AF85D56B67AF}"/>
              </a:ext>
            </a:extLst>
          </p:cNvPr>
          <p:cNvSpPr txBox="1"/>
          <p:nvPr/>
        </p:nvSpPr>
        <p:spPr>
          <a:xfrm>
            <a:off x="2493916" y="2509700"/>
            <a:ext cx="523848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“Favor multiple small interfaces"</a:t>
            </a:r>
          </a:p>
        </p:txBody>
      </p:sp>
    </p:spTree>
    <p:extLst>
      <p:ext uri="{BB962C8B-B14F-4D97-AF65-F5344CB8AC3E}">
        <p14:creationId xmlns:p14="http://schemas.microsoft.com/office/powerpoint/2010/main" val="577345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89A918-C146-FB9A-9479-2C490D3BAB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Inversion Principle (DIP)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D3750A-D6AC-54EC-6018-887FB8A77C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High-level code should not depend on low-level details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Aims</a:t>
            </a:r>
          </a:p>
          <a:p>
            <a:pPr lvl="1"/>
            <a:r>
              <a:rPr lang="en-US" dirty="0"/>
              <a:t>Promote decoupling</a:t>
            </a:r>
          </a:p>
          <a:p>
            <a:pPr lvl="1"/>
            <a:r>
              <a:rPr lang="en-US" dirty="0"/>
              <a:t>Enhance flexibility and scalability (extensions)</a:t>
            </a:r>
          </a:p>
          <a:p>
            <a:pPr lvl="1"/>
            <a:r>
              <a:rPr lang="en-US" dirty="0"/>
              <a:t>Improve maintainability and testability</a:t>
            </a:r>
          </a:p>
          <a:p>
            <a:pPr lvl="1"/>
            <a:r>
              <a:rPr lang="en-US" dirty="0"/>
              <a:t>Encourage layered architecture</a:t>
            </a:r>
          </a:p>
          <a:p>
            <a:pPr lvl="1"/>
            <a:r>
              <a:rPr lang="en-US" dirty="0"/>
              <a:t>Facilitate reuse and "plug-and-play" components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BE79ED-3B0D-1478-D1D3-C000584B5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41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1AC838-3BED-8423-C706-9E2FB189B642}"/>
              </a:ext>
            </a:extLst>
          </p:cNvPr>
          <p:cNvSpPr txBox="1"/>
          <p:nvPr/>
        </p:nvSpPr>
        <p:spPr>
          <a:xfrm>
            <a:off x="2493916" y="2509700"/>
            <a:ext cx="67887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“Depend on abstractions, not concretions"</a:t>
            </a:r>
          </a:p>
        </p:txBody>
      </p:sp>
    </p:spTree>
    <p:extLst>
      <p:ext uri="{BB962C8B-B14F-4D97-AF65-F5344CB8AC3E}">
        <p14:creationId xmlns:p14="http://schemas.microsoft.com/office/powerpoint/2010/main" val="7071379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45F046-03E8-3287-6100-CF100F5770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Law of Demeter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637969-887A-4388-5B5F-3A24C77277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Modules should not "know" about the internal details of the objects they interacts with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Law of Demeter helps enforce SOLID</a:t>
            </a:r>
          </a:p>
          <a:p>
            <a:pPr lvl="1"/>
            <a:r>
              <a:rPr lang="en-US" dirty="0"/>
              <a:t>Helps enforce Single Responsibility Principle</a:t>
            </a:r>
          </a:p>
          <a:p>
            <a:pPr lvl="1"/>
            <a:r>
              <a:rPr lang="en-US" dirty="0"/>
              <a:t>Reduces ripple effect of change (open-closed principle)</a:t>
            </a:r>
          </a:p>
          <a:p>
            <a:pPr lvl="1"/>
            <a:r>
              <a:rPr lang="en-US" dirty="0"/>
              <a:t>Encourages smaller interfaces (Interface segregation principle)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B33C54-A2C7-38A8-32C4-37C006B52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00EFF76-E597-7C9F-3C3D-A7C83002931D}"/>
              </a:ext>
            </a:extLst>
          </p:cNvPr>
          <p:cNvSpPr txBox="1"/>
          <p:nvPr/>
        </p:nvSpPr>
        <p:spPr>
          <a:xfrm>
            <a:off x="2493916" y="2825387"/>
            <a:ext cx="5828455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i="1" dirty="0"/>
              <a:t>"Only talk to your immediate friends"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72816-B7CB-C7BC-4D3A-251BBE8E5A92}"/>
              </a:ext>
            </a:extLst>
          </p:cNvPr>
          <p:cNvSpPr txBox="1"/>
          <p:nvPr/>
        </p:nvSpPr>
        <p:spPr>
          <a:xfrm>
            <a:off x="499580" y="5944234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98057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BDB391-D499-52DC-3F95-F06A387F47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64930-4215-9A9D-21A8-8197FF415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468FA-AC01-700A-B340-DE5CBBC9DF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Robert C. Martin (2008) </a:t>
            </a:r>
            <a:r>
              <a:rPr lang="en-US" i="1" dirty="0"/>
              <a:t>Clean Code: A Handbook of Agile Software Craftsmanship</a:t>
            </a:r>
            <a:r>
              <a:rPr lang="en-US" dirty="0"/>
              <a:t>, Pearson 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946CCD-B2FC-39AB-FE37-5F706B731D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76271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A9DDC-00AC-C65F-BAB9-D666A4911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3CC304-7A54-167F-627F-941E46AB2D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889D4-CBB4-A356-9FBF-17C5A6AB3E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126718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E1B04-6F71-4330-B666-5B7B430C7C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98AEC1-1A7F-4251-B837-4A655C9DC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Observation: patterns in problems to solve</a:t>
            </a:r>
          </a:p>
          <a:p>
            <a:r>
              <a:rPr lang="en-US" dirty="0"/>
              <a:t>Design pattern = recipe for software design</a:t>
            </a:r>
          </a:p>
          <a:p>
            <a:pPr lvl="1"/>
            <a:r>
              <a:rPr lang="en-US" dirty="0"/>
              <a:t>Don’t reinvent the wheel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31908B-C8B8-481C-9414-BA9B8EAA88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0315820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5E72B2-61DF-4F7D-A226-9483D7C440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Design patterns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ABB18-0664-4863-B217-DD2E149B55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Quite a lot (23 originally)</a:t>
            </a:r>
          </a:p>
          <a:p>
            <a:pPr lvl="1"/>
            <a:r>
              <a:rPr lang="en-US" dirty="0"/>
              <a:t>Creational patterns</a:t>
            </a:r>
          </a:p>
          <a:p>
            <a:pPr lvl="2"/>
            <a:r>
              <a:rPr lang="en-US" dirty="0"/>
              <a:t>E.g., builder, factory</a:t>
            </a:r>
          </a:p>
          <a:p>
            <a:pPr lvl="1"/>
            <a:r>
              <a:rPr lang="en-US" dirty="0"/>
              <a:t>Structural patterns</a:t>
            </a:r>
          </a:p>
          <a:p>
            <a:pPr lvl="2"/>
            <a:r>
              <a:rPr lang="en-US" dirty="0"/>
              <a:t>E.g., decorator</a:t>
            </a:r>
          </a:p>
          <a:p>
            <a:pPr lvl="1"/>
            <a:r>
              <a:rPr lang="en-US" dirty="0"/>
              <a:t>Behavioral patterns</a:t>
            </a:r>
          </a:p>
          <a:p>
            <a:pPr lvl="2"/>
            <a:r>
              <a:rPr lang="en-US" dirty="0"/>
              <a:t>E.g., state, strategy</a:t>
            </a:r>
          </a:p>
          <a:p>
            <a:pPr lvl="1"/>
            <a:r>
              <a:rPr lang="en-US" dirty="0"/>
              <a:t>Parallel patterns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AD0D00-276F-449C-8ED3-67B7F75E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FF05FD9-834A-7690-1750-ACE07F4F44C6}"/>
              </a:ext>
            </a:extLst>
          </p:cNvPr>
          <p:cNvSpPr txBox="1"/>
          <p:nvPr/>
        </p:nvSpPr>
        <p:spPr>
          <a:xfrm>
            <a:off x="499580" y="5791830"/>
            <a:ext cx="902253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597816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2119F-79EC-4E00-B9D9-0B25876060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Builder design pattern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F0D69E-6CD4-B5FE-C976-9D928F3B0D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47</a:t>
            </a:fld>
            <a:endParaRPr lang="LID4096"/>
          </a:p>
        </p:txBody>
      </p:sp>
      <p:pic>
        <p:nvPicPr>
          <p:cNvPr id="6" name="Picture 5" descr="A diagram of a diagram&#10;&#10;AI-generated content may be incorrect.">
            <a:extLst>
              <a:ext uri="{FF2B5EF4-FFF2-40B4-BE49-F238E27FC236}">
                <a16:creationId xmlns:a16="http://schemas.microsoft.com/office/drawing/2014/main" id="{D7E34681-6E5E-22EF-801F-FCFC18F408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611085"/>
            <a:ext cx="10318750" cy="35378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23C3959-50E2-6F04-7F37-FA6E07942ADC}"/>
              </a:ext>
            </a:extLst>
          </p:cNvPr>
          <p:cNvSpPr txBox="1"/>
          <p:nvPr/>
        </p:nvSpPr>
        <p:spPr>
          <a:xfrm>
            <a:off x="499580" y="5791830"/>
            <a:ext cx="9454448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https://github.com/gjbex/Scientific-C-plus-plus/tree/master/source-code/DesignPatterns/BuilderPattern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03765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C65591-8615-7E00-CFBB-3B18270922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Factory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49C0292-7B1E-9B21-4614-155BA8F29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48</a:t>
            </a:fld>
            <a:endParaRPr lang="LID4096"/>
          </a:p>
        </p:txBody>
      </p:sp>
      <p:pic>
        <p:nvPicPr>
          <p:cNvPr id="5" name="Picture 4" descr="A diagram of a product&#10;&#10;AI-generated content may be incorrect.">
            <a:extLst>
              <a:ext uri="{FF2B5EF4-FFF2-40B4-BE49-F238E27FC236}">
                <a16:creationId xmlns:a16="http://schemas.microsoft.com/office/drawing/2014/main" id="{BBE229AF-EE3A-58FD-5C44-F9FB310063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6149" y="1690688"/>
            <a:ext cx="8821965" cy="4234543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3AE771F-B92C-A5F6-80B5-1C6B4577A404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3"/>
              </a:rPr>
              <a:t>https://github.com/gjbex/Scientific-C-plus-plus/tree/master/source-code/DesignPatterns/FactoryPattern</a:t>
            </a:r>
            <a:r>
              <a:rPr lang="en-US" sz="1600" dirty="0"/>
              <a:t> </a:t>
            </a:r>
            <a:br>
              <a:rPr lang="en-US" sz="2000" dirty="0"/>
            </a:br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87277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1A7F5-2B05-C3D6-543A-A394B3B454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Strategy design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3BF2698-8B5C-02E9-CF1F-D8F75C6995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49</a:t>
            </a:fld>
            <a:endParaRPr lang="LID4096"/>
          </a:p>
        </p:txBody>
      </p:sp>
      <p:pic>
        <p:nvPicPr>
          <p:cNvPr id="5" name="Picture 4" descr="A diagram of a strategy&#10;&#10;AI-generated content may be incorrect.">
            <a:extLst>
              <a:ext uri="{FF2B5EF4-FFF2-40B4-BE49-F238E27FC236}">
                <a16:creationId xmlns:a16="http://schemas.microsoft.com/office/drawing/2014/main" id="{D211B979-B94C-AE2D-9433-33FECD2261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407" y="1690688"/>
            <a:ext cx="11301186" cy="417274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A043FF5-1E32-01EF-A4BE-A3BD95E2D17C}"/>
              </a:ext>
            </a:extLst>
          </p:cNvPr>
          <p:cNvSpPr txBox="1"/>
          <p:nvPr/>
        </p:nvSpPr>
        <p:spPr>
          <a:xfrm>
            <a:off x="499580" y="5791830"/>
            <a:ext cx="9752413" cy="89255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https://github.com/gjbex/Scientific-C-plus-plus/tree/master/source-code/DesignPatterns/StrategyPattern</a:t>
            </a:r>
            <a:r>
              <a:rPr lang="en-US" sz="1600" dirty="0"/>
              <a:t> </a:t>
            </a:r>
            <a:endParaRPr lang="en-US" sz="2000" dirty="0"/>
          </a:p>
          <a:p>
            <a:r>
              <a:rPr lang="en-US" sz="1600" dirty="0">
                <a:hlinkClick r:id="rId4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61975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23902-4673-FD84-A438-AC235282E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Decorator pattern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78D1F06-39E4-F97D-EF30-466A89D65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50</a:t>
            </a:fld>
            <a:endParaRPr lang="LID4096"/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4786055-7602-0DE3-36B7-1F30D4A657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484915" y="1309007"/>
            <a:ext cx="5486400" cy="4343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31BC909-6E38-C6E1-B1D7-DFDEAACD242A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958888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156F76-E2A6-A963-7759-6045B7CAEF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Dependency injection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DC703F9-488C-5BEB-BB24-2CBEB1CDFD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51</a:t>
            </a:fld>
            <a:endParaRPr lang="LID4096"/>
          </a:p>
        </p:txBody>
      </p:sp>
      <p:pic>
        <p:nvPicPr>
          <p:cNvPr id="1026" name="Picture 2" descr="UML diagram">
            <a:extLst>
              <a:ext uri="{FF2B5EF4-FFF2-40B4-BE49-F238E27FC236}">
                <a16:creationId xmlns:a16="http://schemas.microsoft.com/office/drawing/2014/main" id="{7209C035-6C34-F821-291F-B226965F1D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97211" y="1450521"/>
            <a:ext cx="5619750" cy="41529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8085CCE-3CDA-B126-B537-C43EF80DCE3D}"/>
              </a:ext>
            </a:extLst>
          </p:cNvPr>
          <p:cNvSpPr txBox="1"/>
          <p:nvPr/>
        </p:nvSpPr>
        <p:spPr>
          <a:xfrm>
            <a:off x="499580" y="5791830"/>
            <a:ext cx="9752413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3"/>
              </a:rPr>
              <a:t>https://github.com/gjbex/Scientific-C-plus-plus/tree/master/source-code/DesignPatterns/CellularAutomata</a:t>
            </a:r>
            <a:r>
              <a:rPr lang="en-US" sz="1600" dirty="0"/>
              <a:t>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37242C-17F9-57AC-1F6B-A363CDB72E48}"/>
              </a:ext>
            </a:extLst>
          </p:cNvPr>
          <p:cNvSpPr txBox="1"/>
          <p:nvPr/>
        </p:nvSpPr>
        <p:spPr>
          <a:xfrm>
            <a:off x="1208315" y="4097486"/>
            <a:ext cx="4328173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Supports</a:t>
            </a:r>
            <a:br>
              <a:rPr lang="en-US" sz="2400" dirty="0"/>
            </a:br>
            <a:r>
              <a:rPr lang="en-US" sz="2400" dirty="0"/>
              <a:t>dependency inversion principle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0311522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1C173-33AC-1DCA-ED63-D52D701FC4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specific patterns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B5779-A74C-52C0-DAF9-FC54213263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Curiously Repeating Template Pattern (CRTP)</a:t>
            </a:r>
          </a:p>
          <a:p>
            <a:r>
              <a:rPr lang="en-US" dirty="0"/>
              <a:t>Type erasure</a:t>
            </a:r>
          </a:p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</a:p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6482FC-4A8B-74E1-56FE-EFDCEEF1C5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404270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A48829-0721-1480-5994-E855FF935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Curiously, Repeating Template Pattern (CRTP)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B61A49-5C18-EB0F-3E0D-D280F9E30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Avoid virtual function overhead</a:t>
            </a:r>
          </a:p>
          <a:p>
            <a:r>
              <a:rPr lang="en-US" dirty="0"/>
              <a:t>Enforce compile time interface constraints</a:t>
            </a:r>
          </a:p>
          <a:p>
            <a:r>
              <a:rPr lang="en-US" dirty="0"/>
              <a:t>Code reuse without dynamic polymorphism</a:t>
            </a:r>
          </a:p>
          <a:p>
            <a:r>
              <a:rPr lang="en-US" dirty="0"/>
              <a:t>Static  polymorphism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8837DD-4DFF-B3FC-6690-1408C5CBE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53</a:t>
            </a:fld>
            <a:endParaRPr lang="LID4096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807A64-9623-A9A7-9103-8BC8C59D7960}"/>
              </a:ext>
            </a:extLst>
          </p:cNvPr>
          <p:cNvSpPr txBox="1"/>
          <p:nvPr/>
        </p:nvSpPr>
        <p:spPr>
          <a:xfrm>
            <a:off x="499580" y="5791830"/>
            <a:ext cx="8980856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https://github.com/gjbex/C-plus-plus-software-engineering/tree/main/source-code/design-patterns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29483538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9A350-282A-80DC-C746-795502250C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base class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59DEA4-516B-75F2-1733-1B9E7DD26F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54</a:t>
            </a:fld>
            <a:endParaRPr lang="LID4096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22A5259-8E34-23B7-D0B5-2A1B96CA029E}"/>
              </a:ext>
            </a:extLst>
          </p:cNvPr>
          <p:cNvGrpSpPr/>
          <p:nvPr/>
        </p:nvGrpSpPr>
        <p:grpSpPr>
          <a:xfrm>
            <a:off x="217714" y="1747890"/>
            <a:ext cx="11745686" cy="4524315"/>
            <a:chOff x="-217714" y="1268919"/>
            <a:chExt cx="11745686" cy="4524315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5DA2B60-1900-8786-7856-DAE7BF3CF8C0}"/>
                </a:ext>
              </a:extLst>
            </p:cNvPr>
            <p:cNvSpPr txBox="1"/>
            <p:nvPr/>
          </p:nvSpPr>
          <p:spPr>
            <a:xfrm>
              <a:off x="-217714" y="1268919"/>
              <a:ext cx="11745686" cy="452431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template&lt;class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Simulation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        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step()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"start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static_cast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Derived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*&gt;(this)-&gt;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if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is_verbose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_)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"end step "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&lt;&lt; '\n';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current_step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run(const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for 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= 0;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max_nr_steps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; ++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step_nr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step();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kumimoji="0" lang="en-US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7AEFD06-A58F-2F37-FB8D-9092DB0ECFFD}"/>
                </a:ext>
              </a:extLst>
            </p:cNvPr>
            <p:cNvSpPr txBox="1"/>
            <p:nvPr/>
          </p:nvSpPr>
          <p:spPr>
            <a:xfrm>
              <a:off x="9851246" y="1268919"/>
              <a:ext cx="166584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8175708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7F120-BE31-DEBE-569A-7E4F169F5A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first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BA7589-2BE2-E21F-B60E-24CE644387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55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CD1CE94-2C5B-A331-8ED4-4E4C9DA169DE}"/>
              </a:ext>
            </a:extLst>
          </p:cNvPr>
          <p:cNvGrpSpPr/>
          <p:nvPr/>
        </p:nvGrpSpPr>
        <p:grpSpPr>
          <a:xfrm>
            <a:off x="435429" y="1569488"/>
            <a:ext cx="10918372" cy="3139321"/>
            <a:chOff x="435429" y="1569488"/>
            <a:chExt cx="10918372" cy="3139321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5D3781A-4AC6-5BD5-A245-BFB392168377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313932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 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cout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&lt;&lt;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&lt;&lt; '\n';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1C1ADF-6270-B7A5-7581-82AEB9353671}"/>
                </a:ext>
              </a:extLst>
            </p:cNvPr>
            <p:cNvSpPr txBox="1"/>
            <p:nvPr/>
          </p:nvSpPr>
          <p:spPr>
            <a:xfrm>
              <a:off x="9067475" y="1569488"/>
              <a:ext cx="2282997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6427750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0C6BCD-B0C3-91E9-B309-4BC7DE2128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second derived class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00B4273-98E9-8C48-F760-D50BA9244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56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D29181F-FEBF-B5C7-2BD1-180AA4CF2F9C}"/>
              </a:ext>
            </a:extLst>
          </p:cNvPr>
          <p:cNvGrpSpPr/>
          <p:nvPr/>
        </p:nvGrpSpPr>
        <p:grpSpPr>
          <a:xfrm>
            <a:off x="435429" y="1438859"/>
            <a:ext cx="10918372" cy="4801314"/>
            <a:chOff x="435429" y="1569488"/>
            <a:chExt cx="10918372" cy="480131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4F34E6-3A7F-E212-23B8-55AAF04035B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480131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using Distribution = std::array&lt;std::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, 6&gt;;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struct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: public 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Simulation&lt;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DiceAvgSimulation</a:t>
              </a:r>
              <a:r>
                <a:rPr lang="en-US" b="1" dirty="0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protected: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std::mt19937_64 engine_;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uniform_int_distribution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&lt;int&gt;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{1, 6};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Distribution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 = {0};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public: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seed(const std::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size_t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 {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engine_.seed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seed_value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);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void </a:t>
              </a:r>
              <a:r>
                <a:rPr lang="en-US" b="1" dirty="0" err="1">
                  <a:solidFill>
                    <a:srgbClr val="FF0000"/>
                  </a:solidFill>
                  <a:latin typeface="Courier New" pitchFamily="49" charset="0"/>
                  <a:cs typeface="Courier New" pitchFamily="49" charset="0"/>
                </a:rPr>
                <a:t>step_implementation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_[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_(engine_) - 1]++;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};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    const Distribution&amp; distribution() const { return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throw_distr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_; }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};</a:t>
              </a: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4C007B6B-E184-723B-1236-E1C0C51E9351}"/>
                </a:ext>
              </a:extLst>
            </p:cNvPr>
            <p:cNvSpPr txBox="1"/>
            <p:nvPr/>
          </p:nvSpPr>
          <p:spPr>
            <a:xfrm>
              <a:off x="8566729" y="1569488"/>
              <a:ext cx="277672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dice_avg_simulation.h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8393783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4603A-1F27-3EED-2E6A-C27A51F73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CRTP: usage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0D2256B-CB94-D51D-DB6F-45881B0457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57</a:t>
            </a:fld>
            <a:endParaRPr lang="LID4096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38534744-3258-DB34-866B-761699A9A246}"/>
              </a:ext>
            </a:extLst>
          </p:cNvPr>
          <p:cNvGrpSpPr/>
          <p:nvPr/>
        </p:nvGrpSpPr>
        <p:grpSpPr>
          <a:xfrm>
            <a:off x="533400" y="1997839"/>
            <a:ext cx="10918372" cy="2585323"/>
            <a:chOff x="435429" y="1569488"/>
            <a:chExt cx="10918372" cy="2585323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9FB38179-30D7-CD6C-1A2C-713D34181C14}"/>
                </a:ext>
              </a:extLst>
            </p:cNvPr>
            <p:cNvSpPr txBox="1"/>
            <p:nvPr/>
          </p:nvSpPr>
          <p:spPr>
            <a:xfrm>
              <a:off x="435429" y="1569488"/>
              <a:ext cx="10918372" cy="2585323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#include "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dice_simulation.h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"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int main() {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DiceSimulation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simulation;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simulation.seed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(1234);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simulation.run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(10);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   return 0;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}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D07F3CC-91D8-8B6B-F98C-5BAF30813DAB}"/>
                </a:ext>
              </a:extLst>
            </p:cNvPr>
            <p:cNvSpPr txBox="1"/>
            <p:nvPr/>
          </p:nvSpPr>
          <p:spPr>
            <a:xfrm>
              <a:off x="9557327" y="1569488"/>
              <a:ext cx="1789272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main_dice.cpp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591166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97127-255D-E990-EC62-F84C40508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 to </a:t>
            </a:r>
            <a:r>
              <a:rPr lang="en-US" dirty="0" err="1"/>
              <a:t>IMPLementation</a:t>
            </a:r>
            <a:r>
              <a:rPr lang="en-US" dirty="0"/>
              <a:t> idiom (PIMPL)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C3B8FA-3708-5100-0EB8-21D5539B42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Interface holds pointer to implementation</a:t>
            </a:r>
          </a:p>
          <a:p>
            <a:endParaRPr lang="en-US" dirty="0"/>
          </a:p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Decouple interface and implementation</a:t>
            </a:r>
          </a:p>
          <a:p>
            <a:pPr lvl="1"/>
            <a:r>
              <a:rPr lang="en-US" dirty="0"/>
              <a:t>Easy to replace implementation</a:t>
            </a:r>
          </a:p>
          <a:p>
            <a:pPr lvl="1"/>
            <a:r>
              <a:rPr lang="en-US" dirty="0"/>
              <a:t>Reduces compile times (only implementation needs to be recompiled)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E5189A-6FE9-10F7-635D-516D82FAD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58</a:t>
            </a:fld>
            <a:endParaRPr lang="LID4096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A511E35-CE4E-E28B-1E69-D8329E638252}"/>
              </a:ext>
            </a:extLst>
          </p:cNvPr>
          <p:cNvSpPr txBox="1"/>
          <p:nvPr/>
        </p:nvSpPr>
        <p:spPr>
          <a:xfrm>
            <a:off x="499580" y="5791830"/>
            <a:ext cx="8808565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  <a:br>
              <a:rPr lang="en-US" sz="2000" dirty="0"/>
            </a:br>
            <a:r>
              <a:rPr lang="en-US" sz="1600" dirty="0">
                <a:hlinkClick r:id="rId2"/>
              </a:rPr>
              <a:t>https://github.com/gjbex/Scientific-C-plus-plus/tree/master/source-code/DesignPatterns/PIMPL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505298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C7D3C9-E83D-9F0A-51F3-4512E47A1E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Resource Acquisition Is Initialization (RAII)</a:t>
            </a:r>
            <a:endParaRPr lang="LID4096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F28ECA-31F2-0831-DD71-F6FEF40CA8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Resources</a:t>
            </a:r>
          </a:p>
          <a:p>
            <a:pPr lvl="1"/>
            <a:r>
              <a:rPr lang="en-US" dirty="0"/>
              <a:t>acquire in constructor</a:t>
            </a:r>
          </a:p>
          <a:p>
            <a:pPr lvl="1"/>
            <a:r>
              <a:rPr lang="en-US" dirty="0"/>
              <a:t>Release in destructor</a:t>
            </a:r>
          </a:p>
          <a:p>
            <a:pPr lvl="1"/>
            <a:endParaRPr lang="en-US" dirty="0"/>
          </a:p>
          <a:p>
            <a:r>
              <a:rPr lang="en-US" dirty="0"/>
              <a:t>Advantage</a:t>
            </a:r>
          </a:p>
          <a:p>
            <a:pPr lvl="1"/>
            <a:r>
              <a:rPr lang="en-US" dirty="0"/>
              <a:t>No leaks</a:t>
            </a:r>
          </a:p>
          <a:p>
            <a:pPr lvl="1"/>
            <a:r>
              <a:rPr lang="en-US" dirty="0"/>
              <a:t>No dangling resources</a:t>
            </a:r>
          </a:p>
          <a:p>
            <a:pPr lvl="1"/>
            <a:endParaRPr lang="en-US" dirty="0"/>
          </a:p>
          <a:p>
            <a:r>
              <a:rPr lang="en-US" dirty="0"/>
              <a:t>Example</a:t>
            </a:r>
          </a:p>
          <a:p>
            <a:pPr lvl="1"/>
            <a:r>
              <a:rPr lang="en-US" dirty="0"/>
              <a:t>C++ smart pointers (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unique_ptr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std::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shared_ptr</a:t>
            </a:r>
            <a:r>
              <a:rPr lang="en-US" dirty="0"/>
              <a:t>)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C3ED4D4-B365-7FB4-55C0-E9EC581654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59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9063260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Erich Gamma, Richard Helm, Ralph Johnson and John </a:t>
            </a:r>
            <a:r>
              <a:rPr lang="en-US" dirty="0" err="1"/>
              <a:t>Vlissides</a:t>
            </a:r>
            <a:r>
              <a:rPr lang="en-US" dirty="0"/>
              <a:t> (1994) </a:t>
            </a:r>
            <a:r>
              <a:rPr lang="en-US" i="1" dirty="0"/>
              <a:t>Design patterns: elements of reusable object-oriented software</a:t>
            </a:r>
            <a:r>
              <a:rPr lang="en-US" dirty="0"/>
              <a:t>, Addison-Wesley</a:t>
            </a:r>
          </a:p>
          <a:p>
            <a:r>
              <a:rPr lang="en-US" sz="2800" dirty="0"/>
              <a:t>K</a:t>
            </a:r>
            <a:r>
              <a:rPr lang="en-US" dirty="0"/>
              <a:t>laus </a:t>
            </a:r>
            <a:r>
              <a:rPr lang="en-US" dirty="0" err="1"/>
              <a:t>Iglberger</a:t>
            </a:r>
            <a:r>
              <a:rPr lang="en-US" dirty="0"/>
              <a:t> (2022) </a:t>
            </a:r>
            <a:r>
              <a:rPr lang="en-US" i="1" dirty="0"/>
              <a:t>C++ software design</a:t>
            </a:r>
            <a:r>
              <a:rPr lang="en-US" dirty="0"/>
              <a:t>, O'Reilly Media</a:t>
            </a:r>
            <a:endParaRPr lang="en-US" sz="2800" dirty="0"/>
          </a:p>
          <a:p>
            <a:endParaRPr lang="en-US" sz="2800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>
                <a:solidFill>
                  <a:prstClr val="black">
                    <a:tint val="75000"/>
                  </a:prstClr>
                </a:solidFill>
                <a:latin typeface="Calibri"/>
              </a:rPr>
              <a:pPr/>
              <a:t>60</a:t>
            </a:fld>
            <a:endParaRPr lang="nl-BE">
              <a:solidFill>
                <a:prstClr val="black">
                  <a:tint val="75000"/>
                </a:prstClr>
              </a:solidFill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0076994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B047AC09-4137-6264-6757-2F13914ACA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approach</a:t>
            </a:r>
            <a:endParaRPr lang="LID4096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482D214C-4E56-C7D6-335F-9FBD13AF24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B75E1-EA21-65CD-B316-C1D421486E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8092689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6986E-3696-7561-EFEC-42A2474822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features in C++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DB4156-11FC-1770-3D00-44985A46E1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Lambda functions</a:t>
            </a:r>
          </a:p>
          <a:p>
            <a:r>
              <a:rPr lang="en-US" dirty="0"/>
              <a:t>STL algorithms</a:t>
            </a:r>
          </a:p>
          <a:p>
            <a:r>
              <a:rPr lang="en-US" dirty="0"/>
              <a:t>STL ranges/views</a:t>
            </a:r>
          </a:p>
          <a:p>
            <a:r>
              <a:rPr lang="en-US" dirty="0"/>
              <a:t>STL generators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0FD79C-C1CA-A2C6-29B6-1118C6206C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B1AA33-DFBB-49AC-8CEE-23FFECEB5648}" type="slidenum">
              <a:rPr lang="LID4096" smtClean="0"/>
              <a:t>62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8E6E66E-0B41-F167-E211-1131037E0EC2}"/>
              </a:ext>
            </a:extLst>
          </p:cNvPr>
          <p:cNvSpPr txBox="1"/>
          <p:nvPr/>
        </p:nvSpPr>
        <p:spPr>
          <a:xfrm>
            <a:off x="838200" y="4561744"/>
            <a:ext cx="7669535" cy="113877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See</a:t>
            </a:r>
          </a:p>
          <a:p>
            <a:r>
              <a:rPr lang="en-US" sz="1600" dirty="0">
                <a:hlinkClick r:id="rId2"/>
              </a:rPr>
              <a:t>https://github.com/gjbex/Scientific-C-plus-plus/tree/master/source-code/Functional</a:t>
            </a:r>
            <a:endParaRPr lang="en-US" sz="1600" dirty="0"/>
          </a:p>
          <a:p>
            <a:r>
              <a:rPr lang="en-US" sz="1600" dirty="0">
                <a:hlinkClick r:id="rId3"/>
              </a:rPr>
              <a:t>https://github.com/gjbex/Scientific-C-plus-plus/tree/master/source-code/Algorithms</a:t>
            </a:r>
            <a:r>
              <a:rPr lang="en-US" sz="1600" dirty="0"/>
              <a:t> </a:t>
            </a:r>
          </a:p>
          <a:p>
            <a:r>
              <a:rPr lang="en-US" sz="1600" dirty="0">
                <a:hlinkClick r:id="rId4"/>
              </a:rPr>
              <a:t>https://github.com/gjbex/Scientific-C-plus-plus/tree/master/source-code/Ranges</a:t>
            </a:r>
            <a:r>
              <a:rPr lang="en-US" sz="1600" dirty="0"/>
              <a:t> </a:t>
            </a:r>
            <a:endParaRPr lang="LID4096" sz="1600" dirty="0"/>
          </a:p>
        </p:txBody>
      </p:sp>
    </p:spTree>
    <p:extLst>
      <p:ext uri="{BB962C8B-B14F-4D97-AF65-F5344CB8AC3E}">
        <p14:creationId xmlns:p14="http://schemas.microsoft.com/office/powerpoint/2010/main" val="1848637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6212</TotalTime>
  <Words>3117</Words>
  <Application>Microsoft Office PowerPoint</Application>
  <PresentationFormat>Widescreen</PresentationFormat>
  <Paragraphs>583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70" baseType="lpstr">
      <vt:lpstr>Aptos</vt:lpstr>
      <vt:lpstr>Aptos Display</vt:lpstr>
      <vt:lpstr>Arial</vt:lpstr>
      <vt:lpstr>Calibri</vt:lpstr>
      <vt:lpstr>Courier New</vt:lpstr>
      <vt:lpstr>Informal Roman</vt:lpstr>
      <vt:lpstr>Symbol</vt:lpstr>
      <vt:lpstr>Office Theme</vt:lpstr>
      <vt:lpstr>C++ software engineering</vt:lpstr>
      <vt:lpstr>PowerPoint Presentation</vt:lpstr>
      <vt:lpstr>PowerPoint Presentation</vt:lpstr>
      <vt:lpstr>Typographical conventions: code</vt:lpstr>
      <vt:lpstr>Typographical conventions: shell</vt:lpstr>
      <vt:lpstr>Best practices</vt:lpstr>
      <vt:lpstr>Code style matters</vt:lpstr>
      <vt:lpstr>Coding == story telling</vt:lpstr>
      <vt:lpstr>Coding conventions</vt:lpstr>
      <vt:lpstr>Use (modern) language idioms</vt:lpstr>
      <vt:lpstr>Further reading</vt:lpstr>
      <vt:lpstr>Building with CMake</vt:lpstr>
      <vt:lpstr>What is CMake?</vt:lpstr>
      <vt:lpstr>Basic CMakeLists.txt file</vt:lpstr>
      <vt:lpstr>Generate build files</vt:lpstr>
      <vt:lpstr>Building &amp; installing</vt:lpstr>
      <vt:lpstr>More complex examples</vt:lpstr>
      <vt:lpstr>Further reading</vt:lpstr>
      <vt:lpstr>Static code analysis</vt:lpstr>
      <vt:lpstr>What is it?</vt:lpstr>
      <vt:lpstr>Further reading</vt:lpstr>
      <vt:lpstr>Testing</vt:lpstr>
      <vt:lpstr>Types of testing</vt:lpstr>
      <vt:lpstr>Unit testing</vt:lpstr>
      <vt:lpstr>Functional testing</vt:lpstr>
      <vt:lpstr>Further reading</vt:lpstr>
      <vt:lpstr>Dependency management</vt:lpstr>
      <vt:lpstr>Package managers</vt:lpstr>
      <vt:lpstr>Conan basic usage</vt:lpstr>
      <vt:lpstr>Conan conanfile.txt</vt:lpstr>
      <vt:lpstr>vcpkg</vt:lpstr>
      <vt:lpstr>CPM</vt:lpstr>
      <vt:lpstr>CPM</vt:lpstr>
      <vt:lpstr>Further reading</vt:lpstr>
      <vt:lpstr>Design principles</vt:lpstr>
      <vt:lpstr>Write SOLID code</vt:lpstr>
      <vt:lpstr>Single Responsibility Principle (SRP)</vt:lpstr>
      <vt:lpstr>Open-Closed Principle (OCP)</vt:lpstr>
      <vt:lpstr>Lishkov Substitution Principle (LSP)</vt:lpstr>
      <vt:lpstr>Interface Segregation Principle (ISP)</vt:lpstr>
      <vt:lpstr>Dependency Inversion Principle (DIP)</vt:lpstr>
      <vt:lpstr>Law of Demeter</vt:lpstr>
      <vt:lpstr>Further reading</vt:lpstr>
      <vt:lpstr>Design patterns</vt:lpstr>
      <vt:lpstr>Motivation</vt:lpstr>
      <vt:lpstr>Design patterns</vt:lpstr>
      <vt:lpstr>Builder design pattern</vt:lpstr>
      <vt:lpstr>Factory design pattern</vt:lpstr>
      <vt:lpstr>Strategy design pattern</vt:lpstr>
      <vt:lpstr>Decorator pattern</vt:lpstr>
      <vt:lpstr>Dependency injection</vt:lpstr>
      <vt:lpstr>C++ specific patterns</vt:lpstr>
      <vt:lpstr>Curiously, Repeating Template Pattern (CRTP)</vt:lpstr>
      <vt:lpstr>CRTP: base class</vt:lpstr>
      <vt:lpstr>CRTP: first derived class</vt:lpstr>
      <vt:lpstr>CRTP: second derived class</vt:lpstr>
      <vt:lpstr>CRTP: usage</vt:lpstr>
      <vt:lpstr>Pointer to IMPLementation idiom (PIMPL)</vt:lpstr>
      <vt:lpstr>Resource Acquisition Is Initialization (RAII)</vt:lpstr>
      <vt:lpstr>Further reading</vt:lpstr>
      <vt:lpstr>Functional approach</vt:lpstr>
      <vt:lpstr>Functional features in C++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C++ software engineering</dc:title>
  <dc:creator>Geert Jan Bex</dc:creator>
  <cp:lastModifiedBy>Geert Jan Bex</cp:lastModifiedBy>
  <cp:revision>31</cp:revision>
  <dcterms:created xsi:type="dcterms:W3CDTF">2024-05-16T10:26:07Z</dcterms:created>
  <dcterms:modified xsi:type="dcterms:W3CDTF">2026-04-07T06:23:51Z</dcterms:modified>
</cp:coreProperties>
</file>